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69" r:id="rId7"/>
    <p:sldId id="270" r:id="rId8"/>
    <p:sldId id="271" r:id="rId9"/>
    <p:sldId id="263" r:id="rId10"/>
    <p:sldId id="272" r:id="rId11"/>
    <p:sldId id="264" r:id="rId12"/>
    <p:sldId id="267" r:id="rId13"/>
    <p:sldId id="266" r:id="rId14"/>
    <p:sldId id="268" r:id="rId15"/>
  </p:sldIdLst>
  <p:sldSz cx="18288000" cy="10287000"/>
  <p:notesSz cx="6858000" cy="9144000"/>
  <p:embeddedFontLst>
    <p:embeddedFont>
      <p:font typeface="Agrandir" panose="020B0604020202020204" charset="0"/>
      <p:regular r:id="rId16"/>
    </p:embeddedFont>
    <p:embeddedFont>
      <p:font typeface="Agrandir Bold" panose="020B0604020202020204" charset="0"/>
      <p:regular r:id="rId17"/>
    </p:embeddedFont>
    <p:embeddedFont>
      <p:font typeface="League Spartan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962F2B-76F2-42D7-BC37-16486D49B470}" v="189" dt="2026-04-24T01:05:36.520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15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5140587" y="5046029"/>
            <a:ext cx="3889119" cy="6380485"/>
            <a:chOff x="0" y="0"/>
            <a:chExt cx="1024295" cy="16804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295" cy="1680457"/>
            </a:xfrm>
            <a:custGeom>
              <a:avLst/>
              <a:gdLst/>
              <a:ahLst/>
              <a:cxnLst/>
              <a:rect l="l" t="t" r="r" b="b"/>
              <a:pathLst>
                <a:path w="1024295" h="1680457">
                  <a:moveTo>
                    <a:pt x="0" y="0"/>
                  </a:moveTo>
                  <a:lnTo>
                    <a:pt x="1024295" y="0"/>
                  </a:lnTo>
                  <a:lnTo>
                    <a:pt x="1024295" y="1680457"/>
                  </a:lnTo>
                  <a:lnTo>
                    <a:pt x="0" y="1680457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4295" cy="1718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01310" y="1345755"/>
            <a:ext cx="341587" cy="3700274"/>
            <a:chOff x="0" y="0"/>
            <a:chExt cx="89965" cy="9745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01310" y="5240971"/>
            <a:ext cx="341587" cy="3700274"/>
            <a:chOff x="0" y="0"/>
            <a:chExt cx="89965" cy="9745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228976" y="2042860"/>
            <a:ext cx="15059023" cy="235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176"/>
              </a:lnSpc>
            </a:pPr>
            <a:r>
              <a:rPr lang="en-US" sz="7400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 of COVID-19 on ABC Company's Parcel Delivery</a:t>
            </a:r>
          </a:p>
        </p:txBody>
      </p:sp>
      <p:grpSp>
        <p:nvGrpSpPr>
          <p:cNvPr id="12" name="Group 12"/>
          <p:cNvGrpSpPr/>
          <p:nvPr/>
        </p:nvGrpSpPr>
        <p:grpSpPr>
          <a:xfrm rot="-5400000">
            <a:off x="7769020" y="295160"/>
            <a:ext cx="47625" cy="9127710"/>
            <a:chOff x="0" y="0"/>
            <a:chExt cx="12543" cy="24040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543" cy="2404006"/>
            </a:xfrm>
            <a:custGeom>
              <a:avLst/>
              <a:gdLst/>
              <a:ahLst/>
              <a:cxnLst/>
              <a:rect l="l" t="t" r="r" b="b"/>
              <a:pathLst>
                <a:path w="12543" h="2404006">
                  <a:moveTo>
                    <a:pt x="0" y="0"/>
                  </a:moveTo>
                  <a:lnTo>
                    <a:pt x="12543" y="0"/>
                  </a:lnTo>
                  <a:lnTo>
                    <a:pt x="12543" y="2404006"/>
                  </a:lnTo>
                  <a:lnTo>
                    <a:pt x="0" y="2404006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543" cy="2442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228977" y="4983796"/>
            <a:ext cx="7720305" cy="2753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COMP-603-T06 Programming for Data Science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28977" y="8006958"/>
            <a:ext cx="10466729" cy="1170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5"/>
              </a:lnSpc>
            </a:pPr>
            <a:r>
              <a:rPr lang="en-US" sz="3346" dirty="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Group 12</a:t>
            </a:r>
          </a:p>
          <a:p>
            <a:pPr algn="l">
              <a:lnSpc>
                <a:spcPts val="4685"/>
              </a:lnSpc>
            </a:pPr>
            <a:r>
              <a:rPr lang="en-US" sz="3346" dirty="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Mohmed Yasar Shaikh| Patel Harshkumar | Patel Jap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-5400000">
            <a:off x="5400858" y="-25055"/>
            <a:ext cx="47625" cy="6448421"/>
            <a:chOff x="0" y="0"/>
            <a:chExt cx="12543" cy="1698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1698350"/>
            </a:xfrm>
            <a:custGeom>
              <a:avLst/>
              <a:gdLst/>
              <a:ahLst/>
              <a:cxnLst/>
              <a:rect l="l" t="t" r="r" b="b"/>
              <a:pathLst>
                <a:path w="12543" h="1698350">
                  <a:moveTo>
                    <a:pt x="0" y="0"/>
                  </a:moveTo>
                  <a:lnTo>
                    <a:pt x="12543" y="0"/>
                  </a:lnTo>
                  <a:lnTo>
                    <a:pt x="12543" y="1698350"/>
                  </a:lnTo>
                  <a:lnTo>
                    <a:pt x="0" y="1698350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1736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85043" y="8494926"/>
            <a:ext cx="3889119" cy="743980"/>
            <a:chOff x="0" y="0"/>
            <a:chExt cx="1024295" cy="1959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95945"/>
            </a:xfrm>
            <a:custGeom>
              <a:avLst/>
              <a:gdLst/>
              <a:ahLst/>
              <a:cxnLst/>
              <a:rect l="l" t="t" r="r" b="b"/>
              <a:pathLst>
                <a:path w="1024295" h="195945">
                  <a:moveTo>
                    <a:pt x="0" y="0"/>
                  </a:moveTo>
                  <a:lnTo>
                    <a:pt x="1024295" y="0"/>
                  </a:lnTo>
                  <a:lnTo>
                    <a:pt x="1024295" y="195945"/>
                  </a:lnTo>
                  <a:lnTo>
                    <a:pt x="0" y="195945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234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98798" y="8494926"/>
            <a:ext cx="3889119" cy="743980"/>
            <a:chOff x="0" y="0"/>
            <a:chExt cx="1024295" cy="1959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4295" cy="195945"/>
            </a:xfrm>
            <a:custGeom>
              <a:avLst/>
              <a:gdLst/>
              <a:ahLst/>
              <a:cxnLst/>
              <a:rect l="l" t="t" r="r" b="b"/>
              <a:pathLst>
                <a:path w="1024295" h="195945">
                  <a:moveTo>
                    <a:pt x="0" y="0"/>
                  </a:moveTo>
                  <a:lnTo>
                    <a:pt x="1024295" y="0"/>
                  </a:lnTo>
                  <a:lnTo>
                    <a:pt x="1024295" y="195945"/>
                  </a:lnTo>
                  <a:lnTo>
                    <a:pt x="0" y="195945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4295" cy="234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90610" y="1821883"/>
            <a:ext cx="1360659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Background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90610" y="3437366"/>
            <a:ext cx="8557627" cy="543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endParaRPr lang="en-US" sz="3200" dirty="0">
              <a:solidFill>
                <a:srgbClr val="34363A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582E191-A39B-F62A-15CC-A4822EE81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799" y="3465305"/>
            <a:ext cx="1322924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COVID-19 affected Canadian businesses in different ways.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sectors grew because of higher e-commerce demand.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businesses faced lower sales and shipping activity.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ABC Company’s customers were impacted differently across sectors.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Parcel data from 2019 and 2020 helps show this business impact.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 descr="bg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0" y="0"/>
            <a:ext cx="6888424" cy="10287000"/>
            <a:chOff x="0" y="0"/>
            <a:chExt cx="181423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14235" cy="2709333"/>
            </a:xfrm>
            <a:custGeom>
              <a:avLst/>
              <a:gdLst/>
              <a:ahLst/>
              <a:cxnLst/>
              <a:rect l="l" t="t" r="r" b="b"/>
              <a:pathLst>
                <a:path w="1814235" h="2709333">
                  <a:moveTo>
                    <a:pt x="0" y="0"/>
                  </a:moveTo>
                  <a:lnTo>
                    <a:pt x="1814235" y="0"/>
                  </a:lnTo>
                  <a:lnTo>
                    <a:pt x="18142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1423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3062288" y="1413200"/>
            <a:ext cx="47625" cy="4050380"/>
            <a:chOff x="0" y="0"/>
            <a:chExt cx="12543" cy="10667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43" cy="1066767"/>
            </a:xfrm>
            <a:custGeom>
              <a:avLst/>
              <a:gdLst/>
              <a:ahLst/>
              <a:cxnLst/>
              <a:rect l="l" t="t" r="r" b="b"/>
              <a:pathLst>
                <a:path w="12543" h="1066767">
                  <a:moveTo>
                    <a:pt x="0" y="0"/>
                  </a:moveTo>
                  <a:lnTo>
                    <a:pt x="12543" y="0"/>
                  </a:lnTo>
                  <a:lnTo>
                    <a:pt x="12543" y="1066767"/>
                  </a:lnTo>
                  <a:lnTo>
                    <a:pt x="0" y="1066767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543" cy="1104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395759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60910" y="2186026"/>
            <a:ext cx="5527346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03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398881" y="9563100"/>
            <a:ext cx="3889119" cy="4894530"/>
            <a:chOff x="0" y="0"/>
            <a:chExt cx="1024295" cy="12890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4295" cy="1289094"/>
            </a:xfrm>
            <a:custGeom>
              <a:avLst/>
              <a:gdLst/>
              <a:ahLst/>
              <a:cxnLst/>
              <a:rect l="l" t="t" r="r" b="b"/>
              <a:pathLst>
                <a:path w="1024295" h="1289094">
                  <a:moveTo>
                    <a:pt x="0" y="0"/>
                  </a:moveTo>
                  <a:lnTo>
                    <a:pt x="1024295" y="0"/>
                  </a:lnTo>
                  <a:lnTo>
                    <a:pt x="1024295" y="1289094"/>
                  </a:lnTo>
                  <a:lnTo>
                    <a:pt x="0" y="1289094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24295" cy="1327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8349280" y="8410205"/>
            <a:ext cx="628754" cy="69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6"/>
              </a:lnSpc>
            </a:pPr>
            <a:r>
              <a:rPr lang="en-US" sz="4472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BA780FB-CE63-5ABD-24CB-BA79FDC1A6DD}"/>
              </a:ext>
            </a:extLst>
          </p:cNvPr>
          <p:cNvGrpSpPr/>
          <p:nvPr/>
        </p:nvGrpSpPr>
        <p:grpSpPr>
          <a:xfrm>
            <a:off x="7911941" y="1433285"/>
            <a:ext cx="8287693" cy="7348725"/>
            <a:chOff x="7911941" y="1433285"/>
            <a:chExt cx="8287693" cy="7348725"/>
          </a:xfrm>
        </p:grpSpPr>
        <p:sp>
          <p:nvSpPr>
            <p:cNvPr id="36" name="TextBox 43">
              <a:extLst>
                <a:ext uri="{FF2B5EF4-FFF2-40B4-BE49-F238E27FC236}">
                  <a16:creationId xmlns:a16="http://schemas.microsoft.com/office/drawing/2014/main" id="{72B4A50E-7F9B-39FB-F474-EE67022DDEC7}"/>
                </a:ext>
              </a:extLst>
            </p:cNvPr>
            <p:cNvSpPr txBox="1"/>
            <p:nvPr/>
          </p:nvSpPr>
          <p:spPr>
            <a:xfrm>
              <a:off x="9356204" y="4077472"/>
              <a:ext cx="6462431" cy="463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endParaRPr lang="en-US" sz="3011" dirty="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  <p:sp>
          <p:nvSpPr>
            <p:cNvPr id="37" name="TextBox 44">
              <a:extLst>
                <a:ext uri="{FF2B5EF4-FFF2-40B4-BE49-F238E27FC236}">
                  <a16:creationId xmlns:a16="http://schemas.microsoft.com/office/drawing/2014/main" id="{AA75F8F1-5172-3395-CE26-3B84CED57A3C}"/>
                </a:ext>
              </a:extLst>
            </p:cNvPr>
            <p:cNvSpPr txBox="1"/>
            <p:nvPr/>
          </p:nvSpPr>
          <p:spPr>
            <a:xfrm>
              <a:off x="9356203" y="4001489"/>
              <a:ext cx="6843431" cy="9848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200" dirty="0"/>
                <a:t>Identify first disruption and recovery periods.</a:t>
              </a:r>
              <a:endParaRPr lang="en-US" sz="3011" dirty="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  <p:sp>
          <p:nvSpPr>
            <p:cNvPr id="39" name="TextBox 45">
              <a:extLst>
                <a:ext uri="{FF2B5EF4-FFF2-40B4-BE49-F238E27FC236}">
                  <a16:creationId xmlns:a16="http://schemas.microsoft.com/office/drawing/2014/main" id="{05EBFBA6-53DF-E7BB-6E80-35459373FDA0}"/>
                </a:ext>
              </a:extLst>
            </p:cNvPr>
            <p:cNvSpPr txBox="1"/>
            <p:nvPr/>
          </p:nvSpPr>
          <p:spPr>
            <a:xfrm>
              <a:off x="9361284" y="6646872"/>
              <a:ext cx="6081431" cy="9848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200" dirty="0"/>
                <a:t>Measure impact on customer groups and revenue.</a:t>
              </a:r>
              <a:endParaRPr lang="en-US" sz="3011" dirty="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  <p:grpSp>
          <p:nvGrpSpPr>
            <p:cNvPr id="40" name="Group 19">
              <a:extLst>
                <a:ext uri="{FF2B5EF4-FFF2-40B4-BE49-F238E27FC236}">
                  <a16:creationId xmlns:a16="http://schemas.microsoft.com/office/drawing/2014/main" id="{B90A74A3-AACE-74F2-EBB9-8C34EA4F8C65}"/>
                </a:ext>
              </a:extLst>
            </p:cNvPr>
            <p:cNvGrpSpPr/>
            <p:nvPr/>
          </p:nvGrpSpPr>
          <p:grpSpPr>
            <a:xfrm>
              <a:off x="7917021" y="2710859"/>
              <a:ext cx="960686" cy="949127"/>
              <a:chOff x="0" y="0"/>
              <a:chExt cx="822699" cy="812800"/>
            </a:xfrm>
          </p:grpSpPr>
          <p:sp>
            <p:nvSpPr>
              <p:cNvPr id="75" name="Freeform 20">
                <a:extLst>
                  <a:ext uri="{FF2B5EF4-FFF2-40B4-BE49-F238E27FC236}">
                    <a16:creationId xmlns:a16="http://schemas.microsoft.com/office/drawing/2014/main" id="{07881C4E-D3D4-E1B6-F4BB-16964F8645E3}"/>
                  </a:ext>
                </a:extLst>
              </p:cNvPr>
              <p:cNvSpPr/>
              <p:nvPr/>
            </p:nvSpPr>
            <p:spPr>
              <a:xfrm>
                <a:off x="0" y="0"/>
                <a:ext cx="82269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22699" h="812800">
                    <a:moveTo>
                      <a:pt x="411349" y="0"/>
                    </a:moveTo>
                    <a:cubicBezTo>
                      <a:pt x="184167" y="0"/>
                      <a:pt x="0" y="181951"/>
                      <a:pt x="0" y="406400"/>
                    </a:cubicBezTo>
                    <a:cubicBezTo>
                      <a:pt x="0" y="630849"/>
                      <a:pt x="184167" y="812800"/>
                      <a:pt x="411349" y="812800"/>
                    </a:cubicBezTo>
                    <a:cubicBezTo>
                      <a:pt x="638531" y="812800"/>
                      <a:pt x="822699" y="630849"/>
                      <a:pt x="822699" y="406400"/>
                    </a:cubicBezTo>
                    <a:cubicBezTo>
                      <a:pt x="822699" y="181951"/>
                      <a:pt x="638531" y="0"/>
                      <a:pt x="411349" y="0"/>
                    </a:cubicBezTo>
                    <a:close/>
                  </a:path>
                </a:pathLst>
              </a:custGeom>
              <a:solidFill>
                <a:srgbClr val="32487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TextBox 21">
                <a:extLst>
                  <a:ext uri="{FF2B5EF4-FFF2-40B4-BE49-F238E27FC236}">
                    <a16:creationId xmlns:a16="http://schemas.microsoft.com/office/drawing/2014/main" id="{46C81056-9E37-E6DD-7CB2-F21FC9155018}"/>
                  </a:ext>
                </a:extLst>
              </p:cNvPr>
              <p:cNvSpPr txBox="1"/>
              <p:nvPr/>
            </p:nvSpPr>
            <p:spPr>
              <a:xfrm>
                <a:off x="77128" y="38100"/>
                <a:ext cx="66844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1" name="TextBox 22">
              <a:extLst>
                <a:ext uri="{FF2B5EF4-FFF2-40B4-BE49-F238E27FC236}">
                  <a16:creationId xmlns:a16="http://schemas.microsoft.com/office/drawing/2014/main" id="{CF87ADA9-7C13-F029-3BD3-D56AF6C34CBC}"/>
                </a:ext>
              </a:extLst>
            </p:cNvPr>
            <p:cNvSpPr txBox="1"/>
            <p:nvPr/>
          </p:nvSpPr>
          <p:spPr>
            <a:xfrm>
              <a:off x="8082987" y="2889583"/>
              <a:ext cx="628754" cy="695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4472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D14C8CE7-94B2-093F-7D04-ADE704AF1077}"/>
                </a:ext>
              </a:extLst>
            </p:cNvPr>
            <p:cNvSpPr/>
            <p:nvPr/>
          </p:nvSpPr>
          <p:spPr>
            <a:xfrm>
              <a:off x="7911941" y="1433285"/>
              <a:ext cx="960686" cy="949127"/>
            </a:xfrm>
            <a:custGeom>
              <a:avLst/>
              <a:gdLst/>
              <a:ahLst/>
              <a:cxnLst/>
              <a:rect l="l" t="t" r="r" b="b"/>
              <a:pathLst>
                <a:path w="822699" h="812800">
                  <a:moveTo>
                    <a:pt x="411349" y="0"/>
                  </a:moveTo>
                  <a:cubicBezTo>
                    <a:pt x="184167" y="0"/>
                    <a:pt x="0" y="181951"/>
                    <a:pt x="0" y="406400"/>
                  </a:cubicBezTo>
                  <a:cubicBezTo>
                    <a:pt x="0" y="630849"/>
                    <a:pt x="184167" y="812800"/>
                    <a:pt x="411349" y="812800"/>
                  </a:cubicBezTo>
                  <a:cubicBezTo>
                    <a:pt x="638531" y="812800"/>
                    <a:pt x="822699" y="630849"/>
                    <a:pt x="822699" y="406400"/>
                  </a:cubicBezTo>
                  <a:cubicBezTo>
                    <a:pt x="822699" y="181951"/>
                    <a:pt x="638531" y="0"/>
                    <a:pt x="411349" y="0"/>
                  </a:cubicBez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13">
              <a:extLst>
                <a:ext uri="{FF2B5EF4-FFF2-40B4-BE49-F238E27FC236}">
                  <a16:creationId xmlns:a16="http://schemas.microsoft.com/office/drawing/2014/main" id="{4949675F-129D-BC55-B131-F698C9ED6127}"/>
                </a:ext>
              </a:extLst>
            </p:cNvPr>
            <p:cNvSpPr txBox="1"/>
            <p:nvPr/>
          </p:nvSpPr>
          <p:spPr>
            <a:xfrm>
              <a:off x="7949334" y="1553678"/>
              <a:ext cx="780557" cy="815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spcBef>
                  <a:spcPct val="0"/>
                </a:spcBef>
              </a:pPr>
              <a:endParaRPr/>
            </a:p>
          </p:txBody>
        </p:sp>
        <p:sp>
          <p:nvSpPr>
            <p:cNvPr id="49" name="TextBox 14">
              <a:extLst>
                <a:ext uri="{FF2B5EF4-FFF2-40B4-BE49-F238E27FC236}">
                  <a16:creationId xmlns:a16="http://schemas.microsoft.com/office/drawing/2014/main" id="{DF6724C5-C2E4-5561-F4F5-F49B683A0195}"/>
                </a:ext>
              </a:extLst>
            </p:cNvPr>
            <p:cNvSpPr txBox="1"/>
            <p:nvPr/>
          </p:nvSpPr>
          <p:spPr>
            <a:xfrm>
              <a:off x="8082987" y="1542391"/>
              <a:ext cx="628754" cy="695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4472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  <p:grpSp>
          <p:nvGrpSpPr>
            <p:cNvPr id="53" name="Group 23">
              <a:extLst>
                <a:ext uri="{FF2B5EF4-FFF2-40B4-BE49-F238E27FC236}">
                  <a16:creationId xmlns:a16="http://schemas.microsoft.com/office/drawing/2014/main" id="{21A41761-EB64-11C1-D90C-4E5B27D3B0C8}"/>
                </a:ext>
              </a:extLst>
            </p:cNvPr>
            <p:cNvGrpSpPr/>
            <p:nvPr/>
          </p:nvGrpSpPr>
          <p:grpSpPr>
            <a:xfrm>
              <a:off x="7917021" y="4013220"/>
              <a:ext cx="960686" cy="949127"/>
              <a:chOff x="0" y="0"/>
              <a:chExt cx="822699" cy="812800"/>
            </a:xfrm>
          </p:grpSpPr>
          <p:sp>
            <p:nvSpPr>
              <p:cNvPr id="73" name="Freeform 24">
                <a:extLst>
                  <a:ext uri="{FF2B5EF4-FFF2-40B4-BE49-F238E27FC236}">
                    <a16:creationId xmlns:a16="http://schemas.microsoft.com/office/drawing/2014/main" id="{4FCF4BB6-6124-F41C-12D6-7F88E3DE1C54}"/>
                  </a:ext>
                </a:extLst>
              </p:cNvPr>
              <p:cNvSpPr/>
              <p:nvPr/>
            </p:nvSpPr>
            <p:spPr>
              <a:xfrm>
                <a:off x="0" y="0"/>
                <a:ext cx="82269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22699" h="812800">
                    <a:moveTo>
                      <a:pt x="411349" y="0"/>
                    </a:moveTo>
                    <a:cubicBezTo>
                      <a:pt x="184167" y="0"/>
                      <a:pt x="0" y="181951"/>
                      <a:pt x="0" y="406400"/>
                    </a:cubicBezTo>
                    <a:cubicBezTo>
                      <a:pt x="0" y="630849"/>
                      <a:pt x="184167" y="812800"/>
                      <a:pt x="411349" y="812800"/>
                    </a:cubicBezTo>
                    <a:cubicBezTo>
                      <a:pt x="638531" y="812800"/>
                      <a:pt x="822699" y="630849"/>
                      <a:pt x="822699" y="406400"/>
                    </a:cubicBezTo>
                    <a:cubicBezTo>
                      <a:pt x="822699" y="181951"/>
                      <a:pt x="638531" y="0"/>
                      <a:pt x="411349" y="0"/>
                    </a:cubicBezTo>
                    <a:close/>
                  </a:path>
                </a:pathLst>
              </a:custGeom>
              <a:solidFill>
                <a:srgbClr val="32487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TextBox 25">
                <a:extLst>
                  <a:ext uri="{FF2B5EF4-FFF2-40B4-BE49-F238E27FC236}">
                    <a16:creationId xmlns:a16="http://schemas.microsoft.com/office/drawing/2014/main" id="{77D60B97-59D6-B4DE-7D13-939FA0DB4A82}"/>
                  </a:ext>
                </a:extLst>
              </p:cNvPr>
              <p:cNvSpPr txBox="1"/>
              <p:nvPr/>
            </p:nvSpPr>
            <p:spPr>
              <a:xfrm>
                <a:off x="77128" y="38100"/>
                <a:ext cx="66844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5" name="TextBox 26">
              <a:extLst>
                <a:ext uri="{FF2B5EF4-FFF2-40B4-BE49-F238E27FC236}">
                  <a16:creationId xmlns:a16="http://schemas.microsoft.com/office/drawing/2014/main" id="{B824615B-1E69-4F2E-BD96-D0E7896C9747}"/>
                </a:ext>
              </a:extLst>
            </p:cNvPr>
            <p:cNvSpPr txBox="1"/>
            <p:nvPr/>
          </p:nvSpPr>
          <p:spPr>
            <a:xfrm>
              <a:off x="8082987" y="4191944"/>
              <a:ext cx="628754" cy="695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4472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</a:t>
              </a:r>
            </a:p>
          </p:txBody>
        </p:sp>
        <p:grpSp>
          <p:nvGrpSpPr>
            <p:cNvPr id="57" name="Group 27">
              <a:extLst>
                <a:ext uri="{FF2B5EF4-FFF2-40B4-BE49-F238E27FC236}">
                  <a16:creationId xmlns:a16="http://schemas.microsoft.com/office/drawing/2014/main" id="{F0084892-906D-9E5E-3139-659464B0D259}"/>
                </a:ext>
              </a:extLst>
            </p:cNvPr>
            <p:cNvGrpSpPr/>
            <p:nvPr/>
          </p:nvGrpSpPr>
          <p:grpSpPr>
            <a:xfrm>
              <a:off x="7922101" y="5226449"/>
              <a:ext cx="960686" cy="949127"/>
              <a:chOff x="0" y="0"/>
              <a:chExt cx="822699" cy="812800"/>
            </a:xfrm>
          </p:grpSpPr>
          <p:sp>
            <p:nvSpPr>
              <p:cNvPr id="71" name="Freeform 28">
                <a:extLst>
                  <a:ext uri="{FF2B5EF4-FFF2-40B4-BE49-F238E27FC236}">
                    <a16:creationId xmlns:a16="http://schemas.microsoft.com/office/drawing/2014/main" id="{87EB93C4-258F-04FF-F85D-7B8A6E4A45FB}"/>
                  </a:ext>
                </a:extLst>
              </p:cNvPr>
              <p:cNvSpPr/>
              <p:nvPr/>
            </p:nvSpPr>
            <p:spPr>
              <a:xfrm>
                <a:off x="0" y="0"/>
                <a:ext cx="82269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22699" h="812800">
                    <a:moveTo>
                      <a:pt x="411349" y="0"/>
                    </a:moveTo>
                    <a:cubicBezTo>
                      <a:pt x="184167" y="0"/>
                      <a:pt x="0" y="181951"/>
                      <a:pt x="0" y="406400"/>
                    </a:cubicBezTo>
                    <a:cubicBezTo>
                      <a:pt x="0" y="630849"/>
                      <a:pt x="184167" y="812800"/>
                      <a:pt x="411349" y="812800"/>
                    </a:cubicBezTo>
                    <a:cubicBezTo>
                      <a:pt x="638531" y="812800"/>
                      <a:pt x="822699" y="630849"/>
                      <a:pt x="822699" y="406400"/>
                    </a:cubicBezTo>
                    <a:cubicBezTo>
                      <a:pt x="822699" y="181951"/>
                      <a:pt x="638531" y="0"/>
                      <a:pt x="411349" y="0"/>
                    </a:cubicBezTo>
                    <a:close/>
                  </a:path>
                </a:pathLst>
              </a:custGeom>
              <a:solidFill>
                <a:srgbClr val="32487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TextBox 29">
                <a:extLst>
                  <a:ext uri="{FF2B5EF4-FFF2-40B4-BE49-F238E27FC236}">
                    <a16:creationId xmlns:a16="http://schemas.microsoft.com/office/drawing/2014/main" id="{C783C43A-AB62-251C-5815-A89FADEFDE7B}"/>
                  </a:ext>
                </a:extLst>
              </p:cNvPr>
              <p:cNvSpPr txBox="1"/>
              <p:nvPr/>
            </p:nvSpPr>
            <p:spPr>
              <a:xfrm>
                <a:off x="77128" y="38100"/>
                <a:ext cx="66844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0" name="TextBox 30">
              <a:extLst>
                <a:ext uri="{FF2B5EF4-FFF2-40B4-BE49-F238E27FC236}">
                  <a16:creationId xmlns:a16="http://schemas.microsoft.com/office/drawing/2014/main" id="{D7214E33-AC5F-D511-33E5-6BD8C0446A58}"/>
                </a:ext>
              </a:extLst>
            </p:cNvPr>
            <p:cNvSpPr txBox="1"/>
            <p:nvPr/>
          </p:nvSpPr>
          <p:spPr>
            <a:xfrm>
              <a:off x="8088067" y="5405174"/>
              <a:ext cx="628754" cy="695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4472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</a:t>
              </a:r>
            </a:p>
          </p:txBody>
        </p:sp>
        <p:grpSp>
          <p:nvGrpSpPr>
            <p:cNvPr id="61" name="Group 31">
              <a:extLst>
                <a:ext uri="{FF2B5EF4-FFF2-40B4-BE49-F238E27FC236}">
                  <a16:creationId xmlns:a16="http://schemas.microsoft.com/office/drawing/2014/main" id="{EFFE37C1-B22C-15A7-1698-5BC80CDBD16E}"/>
                </a:ext>
              </a:extLst>
            </p:cNvPr>
            <p:cNvGrpSpPr/>
            <p:nvPr/>
          </p:nvGrpSpPr>
          <p:grpSpPr>
            <a:xfrm>
              <a:off x="7917021" y="6011871"/>
              <a:ext cx="960686" cy="1431253"/>
              <a:chOff x="-10813" y="38100"/>
              <a:chExt cx="822699" cy="1225676"/>
            </a:xfrm>
          </p:grpSpPr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50AA0DE4-84DC-612B-6CC5-5159C98D2CF9}"/>
                  </a:ext>
                </a:extLst>
              </p:cNvPr>
              <p:cNvSpPr/>
              <p:nvPr/>
            </p:nvSpPr>
            <p:spPr>
              <a:xfrm>
                <a:off x="-10813" y="450976"/>
                <a:ext cx="82269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22699" h="812800">
                    <a:moveTo>
                      <a:pt x="411349" y="0"/>
                    </a:moveTo>
                    <a:cubicBezTo>
                      <a:pt x="184167" y="0"/>
                      <a:pt x="0" y="181951"/>
                      <a:pt x="0" y="406400"/>
                    </a:cubicBezTo>
                    <a:cubicBezTo>
                      <a:pt x="0" y="630849"/>
                      <a:pt x="184167" y="812800"/>
                      <a:pt x="411349" y="812800"/>
                    </a:cubicBezTo>
                    <a:cubicBezTo>
                      <a:pt x="638531" y="812800"/>
                      <a:pt x="822699" y="630849"/>
                      <a:pt x="822699" y="406400"/>
                    </a:cubicBezTo>
                    <a:cubicBezTo>
                      <a:pt x="822699" y="181951"/>
                      <a:pt x="638531" y="0"/>
                      <a:pt x="411349" y="0"/>
                    </a:cubicBezTo>
                    <a:close/>
                  </a:path>
                </a:pathLst>
              </a:custGeom>
              <a:solidFill>
                <a:srgbClr val="324879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0" name="TextBox 33">
                <a:extLst>
                  <a:ext uri="{FF2B5EF4-FFF2-40B4-BE49-F238E27FC236}">
                    <a16:creationId xmlns:a16="http://schemas.microsoft.com/office/drawing/2014/main" id="{C0CA327D-3128-0C0A-43A0-9D5189A1B7AC}"/>
                  </a:ext>
                </a:extLst>
              </p:cNvPr>
              <p:cNvSpPr txBox="1"/>
              <p:nvPr/>
            </p:nvSpPr>
            <p:spPr>
              <a:xfrm>
                <a:off x="77128" y="38100"/>
                <a:ext cx="66844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2" name="TextBox 34">
              <a:extLst>
                <a:ext uri="{FF2B5EF4-FFF2-40B4-BE49-F238E27FC236}">
                  <a16:creationId xmlns:a16="http://schemas.microsoft.com/office/drawing/2014/main" id="{5A3207C5-14D2-C427-8D10-C280B2C2EB49}"/>
                </a:ext>
              </a:extLst>
            </p:cNvPr>
            <p:cNvSpPr txBox="1"/>
            <p:nvPr/>
          </p:nvSpPr>
          <p:spPr>
            <a:xfrm>
              <a:off x="8077907" y="6658665"/>
              <a:ext cx="628754" cy="695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4472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5</a:t>
              </a:r>
            </a:p>
          </p:txBody>
        </p:sp>
        <p:sp>
          <p:nvSpPr>
            <p:cNvPr id="63" name="TextBox 46">
              <a:extLst>
                <a:ext uri="{FF2B5EF4-FFF2-40B4-BE49-F238E27FC236}">
                  <a16:creationId xmlns:a16="http://schemas.microsoft.com/office/drawing/2014/main" id="{43DF23BB-9C26-4B7C-9F74-0DC235D97982}"/>
                </a:ext>
              </a:extLst>
            </p:cNvPr>
            <p:cNvSpPr txBox="1"/>
            <p:nvPr/>
          </p:nvSpPr>
          <p:spPr>
            <a:xfrm>
              <a:off x="9368831" y="7797125"/>
              <a:ext cx="5852831" cy="9848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200" dirty="0"/>
                <a:t>Evaluate peak season changes during COVID. </a:t>
              </a:r>
              <a:endParaRPr lang="en-US" sz="3011" dirty="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37ADA51-9E92-BF44-B570-AFE1D1FC5E70}"/>
                </a:ext>
              </a:extLst>
            </p:cNvPr>
            <p:cNvSpPr txBox="1"/>
            <p:nvPr/>
          </p:nvSpPr>
          <p:spPr>
            <a:xfrm>
              <a:off x="9332142" y="5231002"/>
              <a:ext cx="6447945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/>
                <a:t>Compare weekly parcel volumes in 2019 and 2020.</a:t>
              </a:r>
              <a:endParaRPr lang="en-US" sz="3200" dirty="0">
                <a:sym typeface="Agrandir"/>
              </a:endParaRPr>
            </a:p>
          </p:txBody>
        </p:sp>
        <p:grpSp>
          <p:nvGrpSpPr>
            <p:cNvPr id="65" name="Group 11">
              <a:extLst>
                <a:ext uri="{FF2B5EF4-FFF2-40B4-BE49-F238E27FC236}">
                  <a16:creationId xmlns:a16="http://schemas.microsoft.com/office/drawing/2014/main" id="{BCA77A2E-2FAA-F309-EDDB-F28EF799E35F}"/>
                </a:ext>
              </a:extLst>
            </p:cNvPr>
            <p:cNvGrpSpPr/>
            <p:nvPr/>
          </p:nvGrpSpPr>
          <p:grpSpPr>
            <a:xfrm>
              <a:off x="7922100" y="7777437"/>
              <a:ext cx="960686" cy="949127"/>
              <a:chOff x="0" y="0"/>
              <a:chExt cx="822699" cy="812800"/>
            </a:xfrm>
          </p:grpSpPr>
          <p:sp>
            <p:nvSpPr>
              <p:cNvPr id="67" name="Freeform 12">
                <a:extLst>
                  <a:ext uri="{FF2B5EF4-FFF2-40B4-BE49-F238E27FC236}">
                    <a16:creationId xmlns:a16="http://schemas.microsoft.com/office/drawing/2014/main" id="{EA02ED5E-76E0-38D4-A8B4-1DDDA598F3AC}"/>
                  </a:ext>
                </a:extLst>
              </p:cNvPr>
              <p:cNvSpPr/>
              <p:nvPr/>
            </p:nvSpPr>
            <p:spPr>
              <a:xfrm>
                <a:off x="0" y="0"/>
                <a:ext cx="82269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22699" h="812800">
                    <a:moveTo>
                      <a:pt x="411349" y="0"/>
                    </a:moveTo>
                    <a:cubicBezTo>
                      <a:pt x="184167" y="0"/>
                      <a:pt x="0" y="181951"/>
                      <a:pt x="0" y="406400"/>
                    </a:cubicBezTo>
                    <a:cubicBezTo>
                      <a:pt x="0" y="630849"/>
                      <a:pt x="184167" y="812800"/>
                      <a:pt x="411349" y="812800"/>
                    </a:cubicBezTo>
                    <a:cubicBezTo>
                      <a:pt x="638531" y="812800"/>
                      <a:pt x="822699" y="630849"/>
                      <a:pt x="822699" y="406400"/>
                    </a:cubicBezTo>
                    <a:cubicBezTo>
                      <a:pt x="822699" y="181951"/>
                      <a:pt x="638531" y="0"/>
                      <a:pt x="411349" y="0"/>
                    </a:cubicBezTo>
                    <a:close/>
                  </a:path>
                </a:pathLst>
              </a:custGeom>
              <a:solidFill>
                <a:srgbClr val="32487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TextBox 13">
                <a:extLst>
                  <a:ext uri="{FF2B5EF4-FFF2-40B4-BE49-F238E27FC236}">
                    <a16:creationId xmlns:a16="http://schemas.microsoft.com/office/drawing/2014/main" id="{A10A0708-23B3-035A-8E17-B5985615164C}"/>
                  </a:ext>
                </a:extLst>
              </p:cNvPr>
              <p:cNvSpPr txBox="1"/>
              <p:nvPr/>
            </p:nvSpPr>
            <p:spPr>
              <a:xfrm>
                <a:off x="77128" y="38100"/>
                <a:ext cx="66844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FE86181-4264-296F-6ABC-DF38D1573F9B}"/>
                </a:ext>
              </a:extLst>
            </p:cNvPr>
            <p:cNvSpPr txBox="1"/>
            <p:nvPr/>
          </p:nvSpPr>
          <p:spPr>
            <a:xfrm>
              <a:off x="8093096" y="7911109"/>
              <a:ext cx="45720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dirty="0">
                  <a:solidFill>
                    <a:srgbClr val="FFFFFF"/>
                  </a:solidFill>
                  <a:latin typeface="League Spartan"/>
                  <a:sym typeface="League Spartan"/>
                </a:rPr>
                <a:t>6</a:t>
              </a:r>
              <a:endParaRPr lang="en-US" sz="4400" dirty="0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20C29C6F-F745-E79E-B147-15BAD941B020}"/>
              </a:ext>
            </a:extLst>
          </p:cNvPr>
          <p:cNvSpPr txBox="1"/>
          <p:nvPr/>
        </p:nvSpPr>
        <p:spPr>
          <a:xfrm>
            <a:off x="9315563" y="1613535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Dataset Overview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98A652E-E5E1-99D7-518D-52F6D539F341}"/>
              </a:ext>
            </a:extLst>
          </p:cNvPr>
          <p:cNvSpPr txBox="1"/>
          <p:nvPr/>
        </p:nvSpPr>
        <p:spPr>
          <a:xfrm>
            <a:off x="9325723" y="2600995"/>
            <a:ext cx="92632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Analyze how COVID-19 impacted ABC Company’s parcel business.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47804-1B97-5796-A091-7EFEC4029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5" name="Group 5">
            <a:extLst>
              <a:ext uri="{FF2B5EF4-FFF2-40B4-BE49-F238E27FC236}">
                <a16:creationId xmlns:a16="http://schemas.microsoft.com/office/drawing/2014/main" id="{BB5E6253-C767-6F50-F05B-3F96D85424C7}"/>
              </a:ext>
            </a:extLst>
          </p:cNvPr>
          <p:cNvGrpSpPr/>
          <p:nvPr/>
        </p:nvGrpSpPr>
        <p:grpSpPr>
          <a:xfrm rot="-5400000">
            <a:off x="4627349" y="-735370"/>
            <a:ext cx="47625" cy="7150438"/>
            <a:chOff x="0" y="0"/>
            <a:chExt cx="12543" cy="188324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1204C62-4CBF-D3E3-4B5E-B809B21640EC}"/>
                </a:ext>
              </a:extLst>
            </p:cNvPr>
            <p:cNvSpPr/>
            <p:nvPr/>
          </p:nvSpPr>
          <p:spPr>
            <a:xfrm>
              <a:off x="0" y="0"/>
              <a:ext cx="12543" cy="1883243"/>
            </a:xfrm>
            <a:custGeom>
              <a:avLst/>
              <a:gdLst/>
              <a:ahLst/>
              <a:cxnLst/>
              <a:rect l="l" t="t" r="r" b="b"/>
              <a:pathLst>
                <a:path w="12543" h="1883243">
                  <a:moveTo>
                    <a:pt x="0" y="0"/>
                  </a:moveTo>
                  <a:lnTo>
                    <a:pt x="12543" y="0"/>
                  </a:lnTo>
                  <a:lnTo>
                    <a:pt x="12543" y="1883243"/>
                  </a:lnTo>
                  <a:lnTo>
                    <a:pt x="0" y="188324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25EAC07-B38A-BD17-A438-37DF08F56560}"/>
                </a:ext>
              </a:extLst>
            </p:cNvPr>
            <p:cNvSpPr txBox="1"/>
            <p:nvPr/>
          </p:nvSpPr>
          <p:spPr>
            <a:xfrm>
              <a:off x="0" y="-38100"/>
              <a:ext cx="12543" cy="1921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3E2EF20-5916-2D02-791B-3A293594F8D9}"/>
              </a:ext>
            </a:extLst>
          </p:cNvPr>
          <p:cNvGrpSpPr/>
          <p:nvPr/>
        </p:nvGrpSpPr>
        <p:grpSpPr>
          <a:xfrm>
            <a:off x="2706602" y="1028700"/>
            <a:ext cx="3889119" cy="564910"/>
            <a:chOff x="0" y="0"/>
            <a:chExt cx="1024295" cy="14878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61A7C57-F3B1-631F-5E5E-C502201206EC}"/>
                </a:ext>
              </a:extLst>
            </p:cNvPr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DF35AD0-E3B6-C8A0-DD41-2737B8C7EFDC}"/>
                </a:ext>
              </a:extLst>
            </p:cNvPr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24AF3F9-996A-6345-F415-1818F621B90C}"/>
              </a:ext>
            </a:extLst>
          </p:cNvPr>
          <p:cNvGrpSpPr/>
          <p:nvPr/>
        </p:nvGrpSpPr>
        <p:grpSpPr>
          <a:xfrm>
            <a:off x="-1679642" y="1028700"/>
            <a:ext cx="3889119" cy="564910"/>
            <a:chOff x="0" y="0"/>
            <a:chExt cx="1024295" cy="14878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2A82CE8-6A74-6EC0-7A5D-A71F5A2CB8A5}"/>
                </a:ext>
              </a:extLst>
            </p:cNvPr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8A1B698-913E-8418-A7A8-4D82FC8BCF43}"/>
                </a:ext>
              </a:extLst>
            </p:cNvPr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6787512E-A2D2-580D-0D3F-03049893BF6D}"/>
              </a:ext>
            </a:extLst>
          </p:cNvPr>
          <p:cNvSpPr txBox="1"/>
          <p:nvPr/>
        </p:nvSpPr>
        <p:spPr>
          <a:xfrm>
            <a:off x="1028700" y="1770795"/>
            <a:ext cx="14897100" cy="94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4800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 Overview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F314279-B9F1-3DC2-93D2-76BC8F6BE02C}"/>
              </a:ext>
            </a:extLst>
          </p:cNvPr>
          <p:cNvSpPr txBox="1"/>
          <p:nvPr/>
        </p:nvSpPr>
        <p:spPr>
          <a:xfrm>
            <a:off x="14208403" y="546735"/>
            <a:ext cx="3050897" cy="40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 dirty="0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04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EDE0BE-EB2D-CE98-C63B-76370F2FC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611459"/>
              </p:ext>
            </p:extLst>
          </p:nvPr>
        </p:nvGraphicFramePr>
        <p:xfrm>
          <a:off x="1075942" y="3543299"/>
          <a:ext cx="13132462" cy="497290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{3C2FFA5D-87B4-456A-9821-1D502468CF0F}</a:tableStyleId>
              </a:tblPr>
              <a:tblGrid>
                <a:gridCol w="6566231">
                  <a:extLst>
                    <a:ext uri="{9D8B030D-6E8A-4147-A177-3AD203B41FA5}">
                      <a16:colId xmlns:a16="http://schemas.microsoft.com/office/drawing/2014/main" val="3828152255"/>
                    </a:ext>
                  </a:extLst>
                </a:gridCol>
                <a:gridCol w="6566231">
                  <a:extLst>
                    <a:ext uri="{9D8B030D-6E8A-4147-A177-3AD203B41FA5}">
                      <a16:colId xmlns:a16="http://schemas.microsoft.com/office/drawing/2014/main" val="1982905167"/>
                    </a:ext>
                  </a:extLst>
                </a:gridCol>
              </a:tblGrid>
              <a:tr h="828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71292844"/>
                  </a:ext>
                </a:extLst>
              </a:tr>
              <a:tr h="828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104,571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387906835"/>
                  </a:ext>
                </a:extLst>
              </a:tr>
              <a:tr h="828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153281301"/>
                  </a:ext>
                </a:extLst>
              </a:tr>
              <a:tr h="828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448855766"/>
                  </a:ext>
                </a:extLst>
              </a:tr>
              <a:tr h="828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67732290"/>
                  </a:ext>
                </a:extLst>
              </a:tr>
              <a:tr h="828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Missing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284270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1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g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457199" y="2955510"/>
            <a:ext cx="7315201" cy="6302789"/>
            <a:chOff x="0" y="0"/>
            <a:chExt cx="4274726" cy="11472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147221"/>
            </a:xfrm>
            <a:custGeom>
              <a:avLst/>
              <a:gdLst/>
              <a:ahLst/>
              <a:cxnLst/>
              <a:rect l="l" t="t" r="r" b="b"/>
              <a:pathLst>
                <a:path w="4274726" h="1147221">
                  <a:moveTo>
                    <a:pt x="0" y="0"/>
                  </a:moveTo>
                  <a:lnTo>
                    <a:pt x="4274726" y="0"/>
                  </a:lnTo>
                  <a:lnTo>
                    <a:pt x="4274726" y="1147221"/>
                  </a:lnTo>
                  <a:lnTo>
                    <a:pt x="0" y="1147221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185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4008606" y="-765317"/>
            <a:ext cx="47625" cy="7150438"/>
            <a:chOff x="0" y="0"/>
            <a:chExt cx="12543" cy="18832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43" cy="1883243"/>
            </a:xfrm>
            <a:custGeom>
              <a:avLst/>
              <a:gdLst/>
              <a:ahLst/>
              <a:cxnLst/>
              <a:rect l="l" t="t" r="r" b="b"/>
              <a:pathLst>
                <a:path w="12543" h="1883243">
                  <a:moveTo>
                    <a:pt x="0" y="0"/>
                  </a:moveTo>
                  <a:lnTo>
                    <a:pt x="12543" y="0"/>
                  </a:lnTo>
                  <a:lnTo>
                    <a:pt x="12543" y="1883243"/>
                  </a:lnTo>
                  <a:lnTo>
                    <a:pt x="0" y="188324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543" cy="1921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895600" y="387075"/>
            <a:ext cx="3889119" cy="564910"/>
            <a:chOff x="0" y="0"/>
            <a:chExt cx="1024295" cy="1487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600200" y="387075"/>
            <a:ext cx="3889119" cy="564910"/>
            <a:chOff x="0" y="0"/>
            <a:chExt cx="1024295" cy="1487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02969" y="814024"/>
            <a:ext cx="12763500" cy="2026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4800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Did COVID-19 Impact ABC Company’s Parcel Business?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08403" y="546735"/>
            <a:ext cx="3050897" cy="40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 dirty="0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5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6B420CA9-5B91-4D3C-ADC3-0FC0D42A4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03" y="2955510"/>
            <a:ext cx="743819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Parcel volumes in 2020 were higher than 2019 for most weeks.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major disruption appeared at Week 1 of 2020.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growth started after the COVID observation period around Week 16.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2020 maintained higher weekly demand through most of the year.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season reached highest volume at Week 49, above 2019 peak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7EE0EF9-877F-2EA2-195F-FA9298384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396" y="2719241"/>
            <a:ext cx="10080065" cy="6629400"/>
          </a:xfrm>
          <a:prstGeom prst="rect">
            <a:avLst/>
          </a:prstGeom>
          <a:solidFill>
            <a:schemeClr val="bg1"/>
          </a:solidFill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C2D77-4E94-24B1-30F7-9B17823B7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bg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BAA46F4A-71D9-83AF-6702-1686BEE58B4C}"/>
              </a:ext>
            </a:extLst>
          </p:cNvPr>
          <p:cNvGrpSpPr/>
          <p:nvPr/>
        </p:nvGrpSpPr>
        <p:grpSpPr>
          <a:xfrm>
            <a:off x="739379" y="4020452"/>
            <a:ext cx="8433263" cy="6082715"/>
            <a:chOff x="0" y="0"/>
            <a:chExt cx="4274726" cy="114722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BF2C1E5-F2C8-3E35-1DC2-06E0DB29FC32}"/>
                </a:ext>
              </a:extLst>
            </p:cNvPr>
            <p:cNvSpPr/>
            <p:nvPr/>
          </p:nvSpPr>
          <p:spPr>
            <a:xfrm>
              <a:off x="0" y="0"/>
              <a:ext cx="4274726" cy="1147221"/>
            </a:xfrm>
            <a:custGeom>
              <a:avLst/>
              <a:gdLst/>
              <a:ahLst/>
              <a:cxnLst/>
              <a:rect l="l" t="t" r="r" b="b"/>
              <a:pathLst>
                <a:path w="4274726" h="1147221">
                  <a:moveTo>
                    <a:pt x="0" y="0"/>
                  </a:moveTo>
                  <a:lnTo>
                    <a:pt x="4274726" y="0"/>
                  </a:lnTo>
                  <a:lnTo>
                    <a:pt x="4274726" y="1147221"/>
                  </a:lnTo>
                  <a:lnTo>
                    <a:pt x="0" y="1147221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ADF10D4-13C9-B4D5-7779-8E66D07B2E22}"/>
                </a:ext>
              </a:extLst>
            </p:cNvPr>
            <p:cNvSpPr txBox="1"/>
            <p:nvPr/>
          </p:nvSpPr>
          <p:spPr>
            <a:xfrm>
              <a:off x="0" y="-38100"/>
              <a:ext cx="4274726" cy="1185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E4821E8-6ED0-6823-0830-1049234F3B72}"/>
              </a:ext>
            </a:extLst>
          </p:cNvPr>
          <p:cNvGrpSpPr/>
          <p:nvPr/>
        </p:nvGrpSpPr>
        <p:grpSpPr>
          <a:xfrm rot="-5400000">
            <a:off x="4435446" y="295630"/>
            <a:ext cx="47625" cy="7150438"/>
            <a:chOff x="0" y="0"/>
            <a:chExt cx="12543" cy="188324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0A6B171-C29E-B812-FB07-EFA95AEBE51B}"/>
                </a:ext>
              </a:extLst>
            </p:cNvPr>
            <p:cNvSpPr/>
            <p:nvPr/>
          </p:nvSpPr>
          <p:spPr>
            <a:xfrm>
              <a:off x="0" y="0"/>
              <a:ext cx="12543" cy="1883243"/>
            </a:xfrm>
            <a:custGeom>
              <a:avLst/>
              <a:gdLst/>
              <a:ahLst/>
              <a:cxnLst/>
              <a:rect l="l" t="t" r="r" b="b"/>
              <a:pathLst>
                <a:path w="12543" h="1883243">
                  <a:moveTo>
                    <a:pt x="0" y="0"/>
                  </a:moveTo>
                  <a:lnTo>
                    <a:pt x="12543" y="0"/>
                  </a:lnTo>
                  <a:lnTo>
                    <a:pt x="12543" y="1883243"/>
                  </a:lnTo>
                  <a:lnTo>
                    <a:pt x="0" y="188324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A581E63-BEC2-F008-76DB-75E3800E8EEC}"/>
                </a:ext>
              </a:extLst>
            </p:cNvPr>
            <p:cNvSpPr txBox="1"/>
            <p:nvPr/>
          </p:nvSpPr>
          <p:spPr>
            <a:xfrm>
              <a:off x="0" y="-38100"/>
              <a:ext cx="12543" cy="1921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6159A05-B4BF-13A2-3180-D7107E4EEB25}"/>
              </a:ext>
            </a:extLst>
          </p:cNvPr>
          <p:cNvGrpSpPr/>
          <p:nvPr/>
        </p:nvGrpSpPr>
        <p:grpSpPr>
          <a:xfrm>
            <a:off x="2706602" y="1028700"/>
            <a:ext cx="3889119" cy="564910"/>
            <a:chOff x="0" y="0"/>
            <a:chExt cx="1024295" cy="14878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6FDEAEE-A1EE-4890-EC6A-81A10DB6CC8E}"/>
                </a:ext>
              </a:extLst>
            </p:cNvPr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B6BB880-99C6-93EE-4A28-92F067EF2B02}"/>
                </a:ext>
              </a:extLst>
            </p:cNvPr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18A8BDF-C958-73AA-ED59-20EDE91B1799}"/>
              </a:ext>
            </a:extLst>
          </p:cNvPr>
          <p:cNvGrpSpPr/>
          <p:nvPr/>
        </p:nvGrpSpPr>
        <p:grpSpPr>
          <a:xfrm>
            <a:off x="-1679642" y="1028700"/>
            <a:ext cx="3889119" cy="564910"/>
            <a:chOff x="0" y="0"/>
            <a:chExt cx="1024295" cy="14878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D100182-0620-862D-598E-5392B4A0DE11}"/>
                </a:ext>
              </a:extLst>
            </p:cNvPr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7516B8F-5821-E65A-4BFC-B1B06DCD2DE1}"/>
                </a:ext>
              </a:extLst>
            </p:cNvPr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E55A4897-349F-6190-BDB8-BD15D4C295F1}"/>
              </a:ext>
            </a:extLst>
          </p:cNvPr>
          <p:cNvSpPr txBox="1"/>
          <p:nvPr/>
        </p:nvSpPr>
        <p:spPr>
          <a:xfrm>
            <a:off x="884039" y="1835932"/>
            <a:ext cx="12763500" cy="1942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4800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When Were Customer Volumes First Impacted by COVID-19?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04ECF5B-4D46-FBC6-9F71-98DC2540EDC7}"/>
              </a:ext>
            </a:extLst>
          </p:cNvPr>
          <p:cNvSpPr txBox="1"/>
          <p:nvPr/>
        </p:nvSpPr>
        <p:spPr>
          <a:xfrm>
            <a:off x="14208403" y="546735"/>
            <a:ext cx="3050897" cy="40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 dirty="0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06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FDD7CB5-76E0-A825-0126-D1C517915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39" y="4305300"/>
            <a:ext cx="813806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major impact occurred in Week 1 of 2020.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Parcel volume fell to 554,951 in 2020 compared to 814,361 in 2019.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was a decline of 259,410 parcels</a:t>
            </a:r>
            <a:r>
              <a:rPr lang="en-US" altLang="en-US" sz="2800" dirty="0">
                <a:latin typeface="Arial" panose="020B0604020202020204" pitchFamily="34" charset="0"/>
              </a:rPr>
              <a:t> and p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ercentage decrease was 31.85% versus Week 1 of 2019.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indicates early COVID-related uncertainty before full lockdowns.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AC5C88E-629F-DD0E-7105-A3279FF64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661" y="3578983"/>
            <a:ext cx="8696398" cy="62847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6675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5FF67-46F2-8762-6FA8-3697346C7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g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5" name="Group 5">
            <a:extLst>
              <a:ext uri="{FF2B5EF4-FFF2-40B4-BE49-F238E27FC236}">
                <a16:creationId xmlns:a16="http://schemas.microsoft.com/office/drawing/2014/main" id="{EB5519CE-0A7A-7E1A-1D47-ED7B2218A2CB}"/>
              </a:ext>
            </a:extLst>
          </p:cNvPr>
          <p:cNvGrpSpPr/>
          <p:nvPr/>
        </p:nvGrpSpPr>
        <p:grpSpPr>
          <a:xfrm rot="-5400000">
            <a:off x="13409085" y="-103283"/>
            <a:ext cx="47625" cy="7150438"/>
            <a:chOff x="0" y="0"/>
            <a:chExt cx="12543" cy="188324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7DD7123-0D86-E9A8-8BDE-289C05E64FAF}"/>
                </a:ext>
              </a:extLst>
            </p:cNvPr>
            <p:cNvSpPr/>
            <p:nvPr/>
          </p:nvSpPr>
          <p:spPr>
            <a:xfrm>
              <a:off x="0" y="0"/>
              <a:ext cx="12543" cy="1883243"/>
            </a:xfrm>
            <a:custGeom>
              <a:avLst/>
              <a:gdLst/>
              <a:ahLst/>
              <a:cxnLst/>
              <a:rect l="l" t="t" r="r" b="b"/>
              <a:pathLst>
                <a:path w="12543" h="1883243">
                  <a:moveTo>
                    <a:pt x="0" y="0"/>
                  </a:moveTo>
                  <a:lnTo>
                    <a:pt x="12543" y="0"/>
                  </a:lnTo>
                  <a:lnTo>
                    <a:pt x="12543" y="1883243"/>
                  </a:lnTo>
                  <a:lnTo>
                    <a:pt x="0" y="188324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CF25DC8-27FD-56F4-A3FA-A5D76E4303FC}"/>
                </a:ext>
              </a:extLst>
            </p:cNvPr>
            <p:cNvSpPr txBox="1"/>
            <p:nvPr/>
          </p:nvSpPr>
          <p:spPr>
            <a:xfrm>
              <a:off x="0" y="-38100"/>
              <a:ext cx="12543" cy="1921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30328CF8-82E7-EB29-1AC4-775D302CAD0F}"/>
              </a:ext>
            </a:extLst>
          </p:cNvPr>
          <p:cNvGrpSpPr/>
          <p:nvPr/>
        </p:nvGrpSpPr>
        <p:grpSpPr>
          <a:xfrm>
            <a:off x="2819400" y="746245"/>
            <a:ext cx="3889119" cy="564910"/>
            <a:chOff x="0" y="0"/>
            <a:chExt cx="1024295" cy="14878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6B37006-7BED-2060-9F50-5A8CA235C171}"/>
                </a:ext>
              </a:extLst>
            </p:cNvPr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D440E79-B4DD-08A5-F553-0ECA7F49F30A}"/>
                </a:ext>
              </a:extLst>
            </p:cNvPr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5B527F1-33AC-76E7-B4EA-C7DD31C849B9}"/>
              </a:ext>
            </a:extLst>
          </p:cNvPr>
          <p:cNvGrpSpPr/>
          <p:nvPr/>
        </p:nvGrpSpPr>
        <p:grpSpPr>
          <a:xfrm>
            <a:off x="-1600200" y="702679"/>
            <a:ext cx="3889119" cy="564910"/>
            <a:chOff x="0" y="0"/>
            <a:chExt cx="1024295" cy="14878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B52D6E1-68BE-DA88-7369-E3CDA00361D6}"/>
                </a:ext>
              </a:extLst>
            </p:cNvPr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C4AA134-FD2C-BE77-7E83-40DD261F888D}"/>
                </a:ext>
              </a:extLst>
            </p:cNvPr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2D9ED3AA-71A1-9370-1910-262CB8BCEB81}"/>
              </a:ext>
            </a:extLst>
          </p:cNvPr>
          <p:cNvSpPr txBox="1"/>
          <p:nvPr/>
        </p:nvSpPr>
        <p:spPr>
          <a:xfrm>
            <a:off x="831848" y="1311155"/>
            <a:ext cx="12763500" cy="195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4800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Events Within the COVID Timeline May Have Contributed to the Change?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A9992D9-E13E-FDFA-94A3-920103E85BBC}"/>
              </a:ext>
            </a:extLst>
          </p:cNvPr>
          <p:cNvSpPr txBox="1"/>
          <p:nvPr/>
        </p:nvSpPr>
        <p:spPr>
          <a:xfrm>
            <a:off x="14208403" y="546735"/>
            <a:ext cx="3050897" cy="40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 dirty="0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07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AB64712-CDB0-2783-22F9-7C674CDF4CA2}"/>
              </a:ext>
            </a:extLst>
          </p:cNvPr>
          <p:cNvGrpSpPr/>
          <p:nvPr/>
        </p:nvGrpSpPr>
        <p:grpSpPr>
          <a:xfrm>
            <a:off x="9738261" y="3679816"/>
            <a:ext cx="8458200" cy="6321553"/>
            <a:chOff x="847798" y="3829242"/>
            <a:chExt cx="8458200" cy="6321553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915F7673-DFC8-3B18-4B9A-CA03C8152859}"/>
                </a:ext>
              </a:extLst>
            </p:cNvPr>
            <p:cNvGrpSpPr/>
            <p:nvPr/>
          </p:nvGrpSpPr>
          <p:grpSpPr>
            <a:xfrm>
              <a:off x="847798" y="3829242"/>
              <a:ext cx="8296202" cy="6321553"/>
              <a:chOff x="-47693" y="-38100"/>
              <a:chExt cx="4322419" cy="1185321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0B783D18-C50C-0BF1-0EF2-CC38EF6D9BC0}"/>
                  </a:ext>
                </a:extLst>
              </p:cNvPr>
              <p:cNvSpPr/>
              <p:nvPr/>
            </p:nvSpPr>
            <p:spPr>
              <a:xfrm>
                <a:off x="-47693" y="-30811"/>
                <a:ext cx="4274726" cy="1147221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1147221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1147221"/>
                    </a:lnTo>
                    <a:lnTo>
                      <a:pt x="0" y="1147221"/>
                    </a:lnTo>
                    <a:close/>
                  </a:path>
                </a:pathLst>
              </a:custGeom>
              <a:solidFill>
                <a:srgbClr val="99B7A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B68ABA13-32F0-76CC-BFE6-970266F6ECE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74726" cy="11853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495078EA-AA59-0D57-DEDF-3F63624D2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337" y="4456929"/>
              <a:ext cx="8366661" cy="56938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Weeks 1–10: </a:t>
              </a:r>
              <a:r>
                <a:rPr kumimoji="0" lang="en-US" altLang="en-US" sz="2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Fear and uncertainty kept demand low (0.8M–1.0M).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endParaRPr lang="en-US" altLang="en-US" sz="2800" dirty="0">
                <a:latin typeface="Arial" panose="020B0604020202020204" pitchFamily="34" charset="0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Weeks 11–20: </a:t>
              </a:r>
              <a:r>
                <a:rPr kumimoji="0" lang="en-US" altLang="en-US" sz="2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Lockdowns raised parcel volumes above 2.0M.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endParaRPr lang="en-US" altLang="en-US" sz="2800" dirty="0">
                <a:latin typeface="Arial" panose="020B0604020202020204" pitchFamily="34" charset="0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Weeks 21–35: </a:t>
              </a:r>
              <a:r>
                <a:rPr kumimoji="0" lang="en-US" altLang="en-US" sz="2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Online shopping kept demand stable (1.3M–1.7M).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endParaRPr lang="en-US" altLang="en-US" sz="2800" dirty="0">
                <a:latin typeface="Arial" panose="020B0604020202020204" pitchFamily="34" charset="0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Weeks 36–53: </a:t>
              </a:r>
              <a:r>
                <a:rPr kumimoji="0" lang="en-US" altLang="en-US" sz="2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Holiday season created strong growth.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endParaRPr lang="en-US" altLang="en-US" sz="2800" dirty="0">
                <a:latin typeface="Arial" panose="020B0604020202020204" pitchFamily="34" charset="0"/>
              </a:endParaRP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2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Peak reached 3.0M parcels in </a:t>
              </a:r>
              <a:r>
                <a:rPr kumimoji="0" lang="en-US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Week 49</a:t>
              </a:r>
              <a:r>
                <a:rPr kumimoji="0" lang="en-US" altLang="en-US" sz="2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.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E29EDA6-E02E-D267-F69E-EB0DB5118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350407"/>
            <a:ext cx="9017620" cy="66509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8006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96327-7190-D87A-A0B2-7BAE75C7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g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81970874-0B02-4716-2523-9CB874FF2312}"/>
              </a:ext>
            </a:extLst>
          </p:cNvPr>
          <p:cNvGrpSpPr/>
          <p:nvPr/>
        </p:nvGrpSpPr>
        <p:grpSpPr>
          <a:xfrm>
            <a:off x="339895" y="3972504"/>
            <a:ext cx="7965906" cy="6118358"/>
            <a:chOff x="0" y="0"/>
            <a:chExt cx="4274726" cy="114722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7A3CE0-86BD-6412-CB18-5DCE336ABBBB}"/>
                </a:ext>
              </a:extLst>
            </p:cNvPr>
            <p:cNvSpPr/>
            <p:nvPr/>
          </p:nvSpPr>
          <p:spPr>
            <a:xfrm>
              <a:off x="0" y="0"/>
              <a:ext cx="4274726" cy="1147221"/>
            </a:xfrm>
            <a:custGeom>
              <a:avLst/>
              <a:gdLst/>
              <a:ahLst/>
              <a:cxnLst/>
              <a:rect l="l" t="t" r="r" b="b"/>
              <a:pathLst>
                <a:path w="4274726" h="1147221">
                  <a:moveTo>
                    <a:pt x="0" y="0"/>
                  </a:moveTo>
                  <a:lnTo>
                    <a:pt x="4274726" y="0"/>
                  </a:lnTo>
                  <a:lnTo>
                    <a:pt x="4274726" y="1147221"/>
                  </a:lnTo>
                  <a:lnTo>
                    <a:pt x="0" y="1147221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CA68472-A53A-7818-1F52-832A2D141B08}"/>
                </a:ext>
              </a:extLst>
            </p:cNvPr>
            <p:cNvSpPr txBox="1"/>
            <p:nvPr/>
          </p:nvSpPr>
          <p:spPr>
            <a:xfrm>
              <a:off x="0" y="-38100"/>
              <a:ext cx="4274726" cy="1185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807917E-12A3-65FF-794B-2245CDB6FD6E}"/>
              </a:ext>
            </a:extLst>
          </p:cNvPr>
          <p:cNvGrpSpPr/>
          <p:nvPr/>
        </p:nvGrpSpPr>
        <p:grpSpPr>
          <a:xfrm rot="-5400000">
            <a:off x="4490744" y="307792"/>
            <a:ext cx="47625" cy="7150438"/>
            <a:chOff x="0" y="0"/>
            <a:chExt cx="12543" cy="188324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E001036-C414-739F-7A63-73E8CAC5F391}"/>
                </a:ext>
              </a:extLst>
            </p:cNvPr>
            <p:cNvSpPr/>
            <p:nvPr/>
          </p:nvSpPr>
          <p:spPr>
            <a:xfrm>
              <a:off x="0" y="0"/>
              <a:ext cx="12543" cy="1883243"/>
            </a:xfrm>
            <a:custGeom>
              <a:avLst/>
              <a:gdLst/>
              <a:ahLst/>
              <a:cxnLst/>
              <a:rect l="l" t="t" r="r" b="b"/>
              <a:pathLst>
                <a:path w="12543" h="1883243">
                  <a:moveTo>
                    <a:pt x="0" y="0"/>
                  </a:moveTo>
                  <a:lnTo>
                    <a:pt x="12543" y="0"/>
                  </a:lnTo>
                  <a:lnTo>
                    <a:pt x="12543" y="1883243"/>
                  </a:lnTo>
                  <a:lnTo>
                    <a:pt x="0" y="188324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31F36A0-89F3-4A54-3127-94B34D0B0BC4}"/>
                </a:ext>
              </a:extLst>
            </p:cNvPr>
            <p:cNvSpPr txBox="1"/>
            <p:nvPr/>
          </p:nvSpPr>
          <p:spPr>
            <a:xfrm>
              <a:off x="0" y="-38100"/>
              <a:ext cx="12543" cy="1921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29F6E70-9D35-E4EC-E0FB-A92FEE62ABE5}"/>
              </a:ext>
            </a:extLst>
          </p:cNvPr>
          <p:cNvGrpSpPr/>
          <p:nvPr/>
        </p:nvGrpSpPr>
        <p:grpSpPr>
          <a:xfrm>
            <a:off x="2706602" y="1028700"/>
            <a:ext cx="3889119" cy="564910"/>
            <a:chOff x="0" y="0"/>
            <a:chExt cx="1024295" cy="14878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0D33B82-17CB-D605-5153-27CD5C15DDF3}"/>
                </a:ext>
              </a:extLst>
            </p:cNvPr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C8A456B-C380-E3A3-B929-DC3332446958}"/>
                </a:ext>
              </a:extLst>
            </p:cNvPr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0A3AD02-E9E0-4D9C-FABF-52FA74BDEBA1}"/>
              </a:ext>
            </a:extLst>
          </p:cNvPr>
          <p:cNvGrpSpPr/>
          <p:nvPr/>
        </p:nvGrpSpPr>
        <p:grpSpPr>
          <a:xfrm>
            <a:off x="-1679642" y="1028700"/>
            <a:ext cx="3889119" cy="564910"/>
            <a:chOff x="0" y="0"/>
            <a:chExt cx="1024295" cy="14878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0898349-4D0C-4FD8-B4DC-8B8612AC2067}"/>
                </a:ext>
              </a:extLst>
            </p:cNvPr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516585A-7916-6148-2192-3A8BD263CD0F}"/>
                </a:ext>
              </a:extLst>
            </p:cNvPr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D05F8539-250D-3E68-6F3F-C6BF2D573F38}"/>
              </a:ext>
            </a:extLst>
          </p:cNvPr>
          <p:cNvSpPr txBox="1"/>
          <p:nvPr/>
        </p:nvSpPr>
        <p:spPr>
          <a:xfrm>
            <a:off x="884039" y="1835932"/>
            <a:ext cx="12763500" cy="195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4800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Events Within the COVID Timeline May Have Contributed to the Change?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A0EC41-781C-EDB9-529D-031FEEA7EA26}"/>
              </a:ext>
            </a:extLst>
          </p:cNvPr>
          <p:cNvSpPr txBox="1"/>
          <p:nvPr/>
        </p:nvSpPr>
        <p:spPr>
          <a:xfrm>
            <a:off x="14208403" y="546735"/>
            <a:ext cx="3050897" cy="40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 dirty="0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08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B30555F5-11D1-1CB5-B8D9-D8165853E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93" y="4762500"/>
            <a:ext cx="805226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2020 peak season volumes were </a:t>
            </a:r>
            <a:r>
              <a:rPr lang="en-US" sz="2800" b="1" dirty="0"/>
              <a:t>higher than 2019</a:t>
            </a:r>
            <a:r>
              <a:rPr lang="en-US" sz="2800" dirty="0"/>
              <a:t>.</a:t>
            </a:r>
          </a:p>
          <a:p>
            <a:r>
              <a:rPr lang="en-US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Strong demand seen during </a:t>
            </a:r>
            <a:r>
              <a:rPr lang="en-US" sz="2800" b="1" dirty="0"/>
              <a:t>Weeks 45–53</a:t>
            </a:r>
            <a:r>
              <a:rPr lang="en-US" sz="2800" dirty="0"/>
              <a:t>. 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Online shopping boosted late-year shipments.</a:t>
            </a:r>
          </a:p>
          <a:p>
            <a:r>
              <a:rPr lang="en-US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Highest peak came in </a:t>
            </a:r>
            <a:r>
              <a:rPr lang="en-US" sz="2800" b="1" dirty="0"/>
              <a:t>Week 49</a:t>
            </a:r>
            <a:r>
              <a:rPr lang="en-US" sz="2800" dirty="0"/>
              <a:t>. 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COVID increased holiday parcel demand significantly.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0409E6-9EAF-49F0-EEB3-F8F1FDF3B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356" y="3883010"/>
            <a:ext cx="9403551" cy="620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76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g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-5400000">
            <a:off x="4580106" y="1353980"/>
            <a:ext cx="47625" cy="7150438"/>
            <a:chOff x="0" y="0"/>
            <a:chExt cx="12543" cy="18832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1883243"/>
            </a:xfrm>
            <a:custGeom>
              <a:avLst/>
              <a:gdLst/>
              <a:ahLst/>
              <a:cxnLst/>
              <a:rect l="l" t="t" r="r" b="b"/>
              <a:pathLst>
                <a:path w="12543" h="1883243">
                  <a:moveTo>
                    <a:pt x="0" y="0"/>
                  </a:moveTo>
                  <a:lnTo>
                    <a:pt x="12543" y="0"/>
                  </a:lnTo>
                  <a:lnTo>
                    <a:pt x="12543" y="1883243"/>
                  </a:lnTo>
                  <a:lnTo>
                    <a:pt x="0" y="188324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1921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06602" y="1028700"/>
            <a:ext cx="3889119" cy="564910"/>
            <a:chOff x="0" y="0"/>
            <a:chExt cx="1024295" cy="1487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679642" y="1028700"/>
            <a:ext cx="3889119" cy="564910"/>
            <a:chOff x="0" y="0"/>
            <a:chExt cx="1024295" cy="1487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84039" y="2438527"/>
            <a:ext cx="8517661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2"/>
              </a:lnSpc>
            </a:pPr>
            <a:r>
              <a:rPr lang="en-US" sz="4800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Has COVID Affected Different Customer Groups?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08403" y="546735"/>
            <a:ext cx="3050897" cy="40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 dirty="0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09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1079" y="5048261"/>
            <a:ext cx="7028059" cy="4893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8"/>
              </a:lnSpc>
            </a:pPr>
            <a:r>
              <a:rPr lang="en-US" sz="2800" b="1" dirty="0">
                <a:solidFill>
                  <a:srgbClr val="34363A"/>
                </a:solidFill>
                <a:latin typeface="Arial" panose="020B0604020202020204" pitchFamily="34" charset="0"/>
                <a:ea typeface="Agrandir"/>
                <a:cs typeface="Arial" panose="020B0604020202020204" pitchFamily="34" charset="0"/>
                <a:sym typeface="Agrandir"/>
              </a:rPr>
              <a:t>Small: </a:t>
            </a:r>
            <a:r>
              <a:rPr lang="en-US" sz="2800" dirty="0">
                <a:solidFill>
                  <a:srgbClr val="34363A"/>
                </a:solidFill>
                <a:latin typeface="Arial" panose="020B0604020202020204" pitchFamily="34" charset="0"/>
                <a:ea typeface="Agrandir"/>
                <a:cs typeface="Arial" panose="020B0604020202020204" pitchFamily="34" charset="0"/>
                <a:sym typeface="Agrandir"/>
              </a:rPr>
              <a:t>223 growth, 804 lost.</a:t>
            </a:r>
          </a:p>
          <a:p>
            <a:pPr algn="l">
              <a:lnSpc>
                <a:spcPts val="6008"/>
              </a:lnSpc>
            </a:pPr>
            <a:r>
              <a:rPr lang="en-US" sz="2800" b="1" dirty="0">
                <a:solidFill>
                  <a:srgbClr val="34363A"/>
                </a:solidFill>
                <a:latin typeface="Arial" panose="020B0604020202020204" pitchFamily="34" charset="0"/>
                <a:ea typeface="Agrandir"/>
                <a:cs typeface="Arial" panose="020B0604020202020204" pitchFamily="34" charset="0"/>
                <a:sym typeface="Agrandir"/>
              </a:rPr>
              <a:t>Large: </a:t>
            </a:r>
            <a:r>
              <a:rPr lang="en-US" sz="2800" dirty="0">
                <a:solidFill>
                  <a:srgbClr val="34363A"/>
                </a:solidFill>
                <a:latin typeface="Arial" panose="020B0604020202020204" pitchFamily="34" charset="0"/>
                <a:ea typeface="Agrandir"/>
                <a:cs typeface="Arial" panose="020B0604020202020204" pitchFamily="34" charset="0"/>
                <a:sym typeface="Agrandir"/>
              </a:rPr>
              <a:t>242 growth, 803 lost.</a:t>
            </a:r>
          </a:p>
          <a:p>
            <a:pPr algn="l">
              <a:lnSpc>
                <a:spcPts val="6008"/>
              </a:lnSpc>
            </a:pPr>
            <a:r>
              <a:rPr lang="en-US" sz="2800" b="1" dirty="0">
                <a:solidFill>
                  <a:srgbClr val="34363A"/>
                </a:solidFill>
                <a:latin typeface="Arial" panose="020B0604020202020204" pitchFamily="34" charset="0"/>
                <a:ea typeface="Agrandir"/>
                <a:cs typeface="Arial" panose="020B0604020202020204" pitchFamily="34" charset="0"/>
                <a:sym typeface="Agrandir"/>
              </a:rPr>
              <a:t>Enterprise: </a:t>
            </a:r>
            <a:r>
              <a:rPr lang="en-US" sz="2800" dirty="0">
                <a:solidFill>
                  <a:srgbClr val="34363A"/>
                </a:solidFill>
                <a:latin typeface="Arial" panose="020B0604020202020204" pitchFamily="34" charset="0"/>
                <a:ea typeface="Agrandir"/>
                <a:cs typeface="Arial" panose="020B0604020202020204" pitchFamily="34" charset="0"/>
                <a:sym typeface="Agrandir"/>
              </a:rPr>
              <a:t>240 growth, 799 lost.</a:t>
            </a:r>
          </a:p>
          <a:p>
            <a:pPr algn="l"/>
            <a:endParaRPr lang="en-US" sz="2800" dirty="0">
              <a:solidFill>
                <a:srgbClr val="34363A"/>
              </a:solidFill>
              <a:latin typeface="Arial" panose="020B0604020202020204" pitchFamily="34" charset="0"/>
              <a:ea typeface="Agrandir"/>
              <a:cs typeface="Arial" panose="020B0604020202020204" pitchFamily="34" charset="0"/>
              <a:sym typeface="Agrandir"/>
            </a:endParaRPr>
          </a:p>
          <a:p>
            <a:pPr algn="l"/>
            <a:r>
              <a:rPr lang="en-US" sz="2800" dirty="0">
                <a:solidFill>
                  <a:srgbClr val="34363A"/>
                </a:solidFill>
                <a:latin typeface="Arial" panose="020B0604020202020204" pitchFamily="34" charset="0"/>
                <a:ea typeface="Agrandir"/>
                <a:cs typeface="Arial" panose="020B0604020202020204" pitchFamily="34" charset="0"/>
                <a:sym typeface="Agrandir"/>
              </a:rPr>
              <a:t>Around 75% of customers were classified as lost overall.</a:t>
            </a:r>
          </a:p>
          <a:p>
            <a:pPr algn="l"/>
            <a:endParaRPr lang="en-US" sz="2800" dirty="0">
              <a:solidFill>
                <a:srgbClr val="34363A"/>
              </a:solidFill>
              <a:latin typeface="Arial" panose="020B0604020202020204" pitchFamily="34" charset="0"/>
              <a:ea typeface="Agrandir"/>
              <a:cs typeface="Arial" panose="020B0604020202020204" pitchFamily="34" charset="0"/>
              <a:sym typeface="Agrandir"/>
            </a:endParaRPr>
          </a:p>
          <a:p>
            <a:r>
              <a:rPr lang="en-US" sz="2800" dirty="0"/>
              <a:t>Small group had the highest lost customer count (</a:t>
            </a:r>
            <a:r>
              <a:rPr lang="en-US" sz="2800" b="1" dirty="0"/>
              <a:t>804</a:t>
            </a:r>
            <a:r>
              <a:rPr lang="en-US" sz="2800" dirty="0"/>
              <a:t>).</a:t>
            </a:r>
            <a:endParaRPr lang="en-US" sz="2800" dirty="0">
              <a:solidFill>
                <a:srgbClr val="34363A"/>
              </a:solidFill>
              <a:latin typeface="Arial" panose="020B0604020202020204" pitchFamily="34" charset="0"/>
              <a:ea typeface="Agrandir"/>
              <a:cs typeface="Arial" panose="020B0604020202020204" pitchFamily="34" charset="0"/>
              <a:sym typeface="Agrandir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C3794EE-2D4B-EA42-D0D0-D282D81EE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482" y="2891521"/>
            <a:ext cx="9455636" cy="6848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629D8-86B6-D23C-CEE2-2CD361AAA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b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06E13FC-2072-0BEB-9DAF-B0875C1A2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175757"/>
            <a:ext cx="9601200" cy="6794620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5AF24BE4-8206-0FBC-F5A1-8B428A1D2DD1}"/>
              </a:ext>
            </a:extLst>
          </p:cNvPr>
          <p:cNvGrpSpPr/>
          <p:nvPr/>
        </p:nvGrpSpPr>
        <p:grpSpPr>
          <a:xfrm rot="-5400000">
            <a:off x="3259545" y="372290"/>
            <a:ext cx="47625" cy="4794922"/>
            <a:chOff x="0" y="0"/>
            <a:chExt cx="12543" cy="12628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71A53CF-2F77-D2B4-1FCA-A6320A7CE713}"/>
                </a:ext>
              </a:extLst>
            </p:cNvPr>
            <p:cNvSpPr/>
            <p:nvPr/>
          </p:nvSpPr>
          <p:spPr>
            <a:xfrm>
              <a:off x="0" y="0"/>
              <a:ext cx="12543" cy="1262860"/>
            </a:xfrm>
            <a:custGeom>
              <a:avLst/>
              <a:gdLst/>
              <a:ahLst/>
              <a:cxnLst/>
              <a:rect l="l" t="t" r="r" b="b"/>
              <a:pathLst>
                <a:path w="12543" h="1262860">
                  <a:moveTo>
                    <a:pt x="0" y="0"/>
                  </a:moveTo>
                  <a:lnTo>
                    <a:pt x="12543" y="0"/>
                  </a:lnTo>
                  <a:lnTo>
                    <a:pt x="12543" y="1262860"/>
                  </a:lnTo>
                  <a:lnTo>
                    <a:pt x="0" y="1262860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BAAC76E-BFA9-ADEB-432A-8E02FAF9F3B8}"/>
                </a:ext>
              </a:extLst>
            </p:cNvPr>
            <p:cNvSpPr txBox="1"/>
            <p:nvPr/>
          </p:nvSpPr>
          <p:spPr>
            <a:xfrm>
              <a:off x="0" y="-38100"/>
              <a:ext cx="12543" cy="1300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BB59307-AF13-DA07-E8D7-1A33C93D0898}"/>
              </a:ext>
            </a:extLst>
          </p:cNvPr>
          <p:cNvGrpSpPr/>
          <p:nvPr/>
        </p:nvGrpSpPr>
        <p:grpSpPr>
          <a:xfrm>
            <a:off x="15314740" y="9577967"/>
            <a:ext cx="3889119" cy="564910"/>
            <a:chOff x="0" y="0"/>
            <a:chExt cx="1024295" cy="14878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0B2EFD6-1ACE-1345-7E0B-D338E7399E1E}"/>
                </a:ext>
              </a:extLst>
            </p:cNvPr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75E02FD-D537-713F-B802-C933F846ABA2}"/>
                </a:ext>
              </a:extLst>
            </p:cNvPr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1BA402E-0986-FEC1-F31F-E3D07F1D5DC9}"/>
              </a:ext>
            </a:extLst>
          </p:cNvPr>
          <p:cNvGrpSpPr/>
          <p:nvPr/>
        </p:nvGrpSpPr>
        <p:grpSpPr>
          <a:xfrm>
            <a:off x="10972800" y="9577967"/>
            <a:ext cx="3889119" cy="564910"/>
            <a:chOff x="0" y="0"/>
            <a:chExt cx="1024295" cy="14878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EE5AA61-A785-EBF4-D065-3C5A9F7B4A11}"/>
                </a:ext>
              </a:extLst>
            </p:cNvPr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23EF432-4700-7B4C-74BD-1658A9541C05}"/>
                </a:ext>
              </a:extLst>
            </p:cNvPr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CAC59535-F049-AAB3-E1EA-B6DD55AFBCD3}"/>
              </a:ext>
            </a:extLst>
          </p:cNvPr>
          <p:cNvSpPr txBox="1"/>
          <p:nvPr/>
        </p:nvSpPr>
        <p:spPr>
          <a:xfrm>
            <a:off x="884038" y="284099"/>
            <a:ext cx="15407741" cy="2423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4"/>
              </a:lnSpc>
            </a:pPr>
            <a:r>
              <a:rPr lang="en-US" sz="4800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percent of each customer group is growing, moderately growing, and declining during the COVID observation period? 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2F7BF7B-AE86-082D-1894-804FF505AE34}"/>
              </a:ext>
            </a:extLst>
          </p:cNvPr>
          <p:cNvSpPr txBox="1"/>
          <p:nvPr/>
        </p:nvSpPr>
        <p:spPr>
          <a:xfrm>
            <a:off x="14208403" y="546735"/>
            <a:ext cx="3050897" cy="40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 dirty="0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71236E-BC25-DD06-EC2B-61725A6E32FE}"/>
              </a:ext>
            </a:extLst>
          </p:cNvPr>
          <p:cNvSpPr txBox="1"/>
          <p:nvPr/>
        </p:nvSpPr>
        <p:spPr>
          <a:xfrm>
            <a:off x="10627003" y="4160284"/>
            <a:ext cx="7162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High Growth customers accounted for 22.2%.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Declining customers were only 1.7%.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Moderate/Stable customers were 0.2%.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Most customers were either growing or lost during COVID</a:t>
            </a:r>
          </a:p>
        </p:txBody>
      </p:sp>
    </p:spTree>
    <p:extLst>
      <p:ext uri="{BB962C8B-B14F-4D97-AF65-F5344CB8AC3E}">
        <p14:creationId xmlns:p14="http://schemas.microsoft.com/office/powerpoint/2010/main" val="2983454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D1ECAE-F8D2-401D-7A16-EE49F3299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2715284"/>
            <a:ext cx="9829801" cy="69342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 rot="-5400000">
            <a:off x="4627349" y="-735370"/>
            <a:ext cx="47625" cy="7150438"/>
            <a:chOff x="0" y="0"/>
            <a:chExt cx="12543" cy="18832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43" cy="1883243"/>
            </a:xfrm>
            <a:custGeom>
              <a:avLst/>
              <a:gdLst/>
              <a:ahLst/>
              <a:cxnLst/>
              <a:rect l="l" t="t" r="r" b="b"/>
              <a:pathLst>
                <a:path w="12543" h="1883243">
                  <a:moveTo>
                    <a:pt x="0" y="0"/>
                  </a:moveTo>
                  <a:lnTo>
                    <a:pt x="12543" y="0"/>
                  </a:lnTo>
                  <a:lnTo>
                    <a:pt x="12543" y="1883243"/>
                  </a:lnTo>
                  <a:lnTo>
                    <a:pt x="0" y="188324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543" cy="1921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06602" y="1028700"/>
            <a:ext cx="3889119" cy="564910"/>
            <a:chOff x="0" y="0"/>
            <a:chExt cx="1024295" cy="1487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679642" y="1028700"/>
            <a:ext cx="3889119" cy="564910"/>
            <a:chOff x="0" y="0"/>
            <a:chExt cx="1024295" cy="1487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770795"/>
            <a:ext cx="14897100" cy="94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4800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Evaluate peak season changes during COVID.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08403" y="546735"/>
            <a:ext cx="3050897" cy="40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 dirty="0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C43A80-6991-03F4-E5B3-8CB1F8A69AE5}"/>
              </a:ext>
            </a:extLst>
          </p:cNvPr>
          <p:cNvSpPr txBox="1"/>
          <p:nvPr/>
        </p:nvSpPr>
        <p:spPr>
          <a:xfrm>
            <a:off x="1075942" y="3543300"/>
            <a:ext cx="64389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Peak season volume increased in 2020 compared to 2019.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2019 peak season handled 12.73M parcels.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2020 peak season reached 16.40M parcels.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Increase of 3.67M parcels (+28.84%).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COVID boosted holiday and online shopping demand.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9FAE1-A0FE-1D82-7F57-9AC241437BB6}"/>
              </a:ext>
            </a:extLst>
          </p:cNvPr>
          <p:cNvSpPr txBox="1"/>
          <p:nvPr/>
        </p:nvSpPr>
        <p:spPr>
          <a:xfrm>
            <a:off x="11887200" y="9763125"/>
            <a:ext cx="998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Revenue estimated using </a:t>
            </a:r>
            <a:r>
              <a:rPr lang="en-US" b="1" dirty="0"/>
              <a:t>$22 average parcel price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5848193" y="4832006"/>
            <a:ext cx="9969782" cy="4426294"/>
            <a:chOff x="0" y="0"/>
            <a:chExt cx="2625786" cy="1165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25786" cy="1165773"/>
            </a:xfrm>
            <a:custGeom>
              <a:avLst/>
              <a:gdLst/>
              <a:ahLst/>
              <a:cxnLst/>
              <a:rect l="l" t="t" r="r" b="b"/>
              <a:pathLst>
                <a:path w="2625786" h="1165773">
                  <a:moveTo>
                    <a:pt x="0" y="0"/>
                  </a:moveTo>
                  <a:lnTo>
                    <a:pt x="2625786" y="0"/>
                  </a:lnTo>
                  <a:lnTo>
                    <a:pt x="2625786" y="1165773"/>
                  </a:lnTo>
                  <a:lnTo>
                    <a:pt x="0" y="1165773"/>
                  </a:lnTo>
                  <a:close/>
                </a:path>
              </a:pathLst>
            </a:custGeom>
            <a:solidFill>
              <a:srgbClr val="78908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25786" cy="1203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165931" y="4832006"/>
            <a:ext cx="9970308" cy="4426294"/>
            <a:chOff x="0" y="0"/>
            <a:chExt cx="2625925" cy="11657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25925" cy="1165773"/>
            </a:xfrm>
            <a:custGeom>
              <a:avLst/>
              <a:gdLst/>
              <a:ahLst/>
              <a:cxnLst/>
              <a:rect l="l" t="t" r="r" b="b"/>
              <a:pathLst>
                <a:path w="2625925" h="1165773">
                  <a:moveTo>
                    <a:pt x="0" y="0"/>
                  </a:moveTo>
                  <a:lnTo>
                    <a:pt x="2625925" y="0"/>
                  </a:lnTo>
                  <a:lnTo>
                    <a:pt x="2625925" y="1165773"/>
                  </a:lnTo>
                  <a:lnTo>
                    <a:pt x="0" y="1165773"/>
                  </a:lnTo>
                  <a:close/>
                </a:path>
              </a:pathLst>
            </a:custGeom>
            <a:solidFill>
              <a:srgbClr val="78908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25925" cy="1203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528975" y="4108496"/>
            <a:ext cx="11229570" cy="4659507"/>
            <a:chOff x="0" y="0"/>
            <a:chExt cx="2957582" cy="122719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57582" cy="1227195"/>
            </a:xfrm>
            <a:custGeom>
              <a:avLst/>
              <a:gdLst/>
              <a:ahLst/>
              <a:cxnLst/>
              <a:rect l="l" t="t" r="r" b="b"/>
              <a:pathLst>
                <a:path w="2957582" h="1227195">
                  <a:moveTo>
                    <a:pt x="0" y="0"/>
                  </a:moveTo>
                  <a:lnTo>
                    <a:pt x="2957582" y="0"/>
                  </a:lnTo>
                  <a:lnTo>
                    <a:pt x="2957582" y="1227195"/>
                  </a:lnTo>
                  <a:lnTo>
                    <a:pt x="0" y="1227195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957582" cy="1265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732600" y="4565306"/>
            <a:ext cx="10822800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COVID-19 initially disrupted parcel volumes but recovery was rapid.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2020 shipments exceeded 2019 levels for most of the year.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Peak season volume increased </a:t>
            </a:r>
            <a:r>
              <a:rPr lang="en-US" sz="2800" b="1" dirty="0">
                <a:solidFill>
                  <a:schemeClr val="bg1"/>
                </a:solidFill>
              </a:rPr>
              <a:t>28.84%</a:t>
            </a:r>
            <a:r>
              <a:rPr lang="en-US" sz="2800" dirty="0">
                <a:solidFill>
                  <a:schemeClr val="bg1"/>
                </a:solidFill>
              </a:rPr>
              <a:t> during COVID.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Large and Enterprise customers showed strongest growth and resilience.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E-commerce demand became the key driver of business growth.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86200" y="1802130"/>
            <a:ext cx="9039667" cy="2026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Final Summary &amp; Insights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706602" y="1028700"/>
            <a:ext cx="3889119" cy="564910"/>
            <a:chOff x="0" y="0"/>
            <a:chExt cx="1024295" cy="1487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1679642" y="1028700"/>
            <a:ext cx="3889119" cy="564910"/>
            <a:chOff x="0" y="0"/>
            <a:chExt cx="1024295" cy="14878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bg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028700" y="5234239"/>
            <a:ext cx="16230600" cy="4355855"/>
            <a:chOff x="0" y="0"/>
            <a:chExt cx="4274726" cy="11472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1147221"/>
            </a:xfrm>
            <a:custGeom>
              <a:avLst/>
              <a:gdLst/>
              <a:ahLst/>
              <a:cxnLst/>
              <a:rect l="l" t="t" r="r" b="b"/>
              <a:pathLst>
                <a:path w="4274726" h="1147221">
                  <a:moveTo>
                    <a:pt x="0" y="0"/>
                  </a:moveTo>
                  <a:lnTo>
                    <a:pt x="4274726" y="0"/>
                  </a:lnTo>
                  <a:lnTo>
                    <a:pt x="4274726" y="1147221"/>
                  </a:lnTo>
                  <a:lnTo>
                    <a:pt x="0" y="1147221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1185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4580106" y="1353980"/>
            <a:ext cx="47625" cy="7150438"/>
            <a:chOff x="0" y="0"/>
            <a:chExt cx="12543" cy="18832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43" cy="1883243"/>
            </a:xfrm>
            <a:custGeom>
              <a:avLst/>
              <a:gdLst/>
              <a:ahLst/>
              <a:cxnLst/>
              <a:rect l="l" t="t" r="r" b="b"/>
              <a:pathLst>
                <a:path w="12543" h="1883243">
                  <a:moveTo>
                    <a:pt x="0" y="0"/>
                  </a:moveTo>
                  <a:lnTo>
                    <a:pt x="12543" y="0"/>
                  </a:lnTo>
                  <a:lnTo>
                    <a:pt x="12543" y="1883243"/>
                  </a:lnTo>
                  <a:lnTo>
                    <a:pt x="0" y="188324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543" cy="1921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06602" y="1028700"/>
            <a:ext cx="3889119" cy="564910"/>
            <a:chOff x="0" y="0"/>
            <a:chExt cx="1024295" cy="1487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679642" y="1028700"/>
            <a:ext cx="3889119" cy="564910"/>
            <a:chOff x="0" y="0"/>
            <a:chExt cx="1024295" cy="1487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2627846"/>
            <a:ext cx="9167933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Final Recommendations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08403" y="546735"/>
            <a:ext cx="3050897" cy="40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 dirty="0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13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0822" y="5290776"/>
            <a:ext cx="15528815" cy="401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5924" lvl="1" indent="-362962" algn="l">
              <a:lnSpc>
                <a:spcPts val="6388"/>
              </a:lnSpc>
              <a:buFont typeface="Arial"/>
              <a:buChar char="•"/>
            </a:pPr>
            <a:r>
              <a:rPr lang="en-US" sz="2800" dirty="0">
                <a:solidFill>
                  <a:srgbClr val="34363A"/>
                </a:solidFill>
                <a:latin typeface="Arial" panose="020B0604020202020204" pitchFamily="34" charset="0"/>
                <a:ea typeface="Agrandir"/>
                <a:cs typeface="Arial" panose="020B0604020202020204" pitchFamily="34" charset="0"/>
                <a:sym typeface="Agrandir"/>
              </a:rPr>
              <a:t>Expand infrastructure for future peak demand.</a:t>
            </a:r>
          </a:p>
          <a:p>
            <a:pPr marL="725924" lvl="1" indent="-362962" algn="l">
              <a:lnSpc>
                <a:spcPts val="6388"/>
              </a:lnSpc>
              <a:buFont typeface="Arial"/>
              <a:buChar char="•"/>
            </a:pPr>
            <a:r>
              <a:rPr lang="en-US" sz="2800" dirty="0">
                <a:solidFill>
                  <a:srgbClr val="34363A"/>
                </a:solidFill>
                <a:latin typeface="Arial" panose="020B0604020202020204" pitchFamily="34" charset="0"/>
                <a:ea typeface="Agrandir"/>
                <a:cs typeface="Arial" panose="020B0604020202020204" pitchFamily="34" charset="0"/>
                <a:sym typeface="Agrandir"/>
              </a:rPr>
              <a:t>Track high-growth customers for expansion opportunities.</a:t>
            </a:r>
          </a:p>
          <a:p>
            <a:pPr marL="725924" lvl="1" indent="-362962" algn="l">
              <a:lnSpc>
                <a:spcPts val="6388"/>
              </a:lnSpc>
              <a:buFont typeface="Arial"/>
              <a:buChar char="•"/>
            </a:pPr>
            <a:r>
              <a:rPr lang="en-US" sz="2800" dirty="0">
                <a:solidFill>
                  <a:srgbClr val="34363A"/>
                </a:solidFill>
                <a:latin typeface="Arial" panose="020B0604020202020204" pitchFamily="34" charset="0"/>
                <a:ea typeface="Agrandir"/>
                <a:cs typeface="Arial" panose="020B0604020202020204" pitchFamily="34" charset="0"/>
                <a:sym typeface="Agrandir"/>
              </a:rPr>
              <a:t>Re-engage lost customers with targeted offers.</a:t>
            </a:r>
          </a:p>
          <a:p>
            <a:pPr marL="725924" lvl="1" indent="-362962" algn="l">
              <a:lnSpc>
                <a:spcPts val="6388"/>
              </a:lnSpc>
              <a:buFont typeface="Arial"/>
              <a:buChar char="•"/>
            </a:pPr>
            <a:r>
              <a:rPr lang="en-US" sz="2800" dirty="0">
                <a:solidFill>
                  <a:srgbClr val="34363A"/>
                </a:solidFill>
                <a:latin typeface="Arial" panose="020B0604020202020204" pitchFamily="34" charset="0"/>
                <a:ea typeface="Agrandir"/>
                <a:cs typeface="Arial" panose="020B0604020202020204" pitchFamily="34" charset="0"/>
                <a:sym typeface="Agrandir"/>
              </a:rPr>
              <a:t>Strengthen Enterprise and Large customer relationships.</a:t>
            </a:r>
          </a:p>
          <a:p>
            <a:pPr marL="725924" lvl="1" indent="-362962" algn="l">
              <a:lnSpc>
                <a:spcPts val="6388"/>
              </a:lnSpc>
              <a:buFont typeface="Arial"/>
              <a:buChar char="•"/>
            </a:pPr>
            <a:r>
              <a:rPr lang="en-US" sz="2800" dirty="0">
                <a:solidFill>
                  <a:srgbClr val="34363A"/>
                </a:solidFill>
                <a:latin typeface="Arial" panose="020B0604020202020204" pitchFamily="34" charset="0"/>
                <a:ea typeface="Agrandir"/>
                <a:cs typeface="Arial" panose="020B0604020202020204" pitchFamily="34" charset="0"/>
                <a:sym typeface="Agrandir"/>
              </a:rPr>
              <a:t>Use past peak trends for future forecasting.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B7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bg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4936593" y="8072399"/>
            <a:ext cx="3889119" cy="4894530"/>
            <a:chOff x="0" y="0"/>
            <a:chExt cx="1024295" cy="12890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295" cy="1289094"/>
            </a:xfrm>
            <a:custGeom>
              <a:avLst/>
              <a:gdLst/>
              <a:ahLst/>
              <a:cxnLst/>
              <a:rect l="l" t="t" r="r" b="b"/>
              <a:pathLst>
                <a:path w="1024295" h="1289094">
                  <a:moveTo>
                    <a:pt x="0" y="0"/>
                  </a:moveTo>
                  <a:lnTo>
                    <a:pt x="1024295" y="0"/>
                  </a:lnTo>
                  <a:lnTo>
                    <a:pt x="1024295" y="1289094"/>
                  </a:lnTo>
                  <a:lnTo>
                    <a:pt x="0" y="1289094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4295" cy="1327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29899" y="-2447265"/>
            <a:ext cx="3889119" cy="4894530"/>
            <a:chOff x="0" y="0"/>
            <a:chExt cx="1024295" cy="12890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289094"/>
            </a:xfrm>
            <a:custGeom>
              <a:avLst/>
              <a:gdLst/>
              <a:ahLst/>
              <a:cxnLst/>
              <a:rect l="l" t="t" r="r" b="b"/>
              <a:pathLst>
                <a:path w="1024295" h="1289094">
                  <a:moveTo>
                    <a:pt x="0" y="0"/>
                  </a:moveTo>
                  <a:lnTo>
                    <a:pt x="1024295" y="0"/>
                  </a:lnTo>
                  <a:lnTo>
                    <a:pt x="1024295" y="1289094"/>
                  </a:lnTo>
                  <a:lnTo>
                    <a:pt x="0" y="1289094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1327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5992561"/>
            <a:ext cx="267923" cy="2902305"/>
            <a:chOff x="0" y="0"/>
            <a:chExt cx="89965" cy="9745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9047769"/>
            <a:ext cx="267923" cy="2902305"/>
            <a:chOff x="0" y="0"/>
            <a:chExt cx="89965" cy="9745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100312" y="1522046"/>
            <a:ext cx="267923" cy="2902305"/>
            <a:chOff x="0" y="0"/>
            <a:chExt cx="89965" cy="9745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100312" y="4577253"/>
            <a:ext cx="267923" cy="2902305"/>
            <a:chOff x="0" y="0"/>
            <a:chExt cx="89965" cy="97455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728589" y="3439662"/>
            <a:ext cx="8830823" cy="5039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54"/>
              </a:lnSpc>
            </a:pPr>
            <a:r>
              <a:rPr lang="en-US" sz="16172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646</Words>
  <Application>Microsoft Office PowerPoint</Application>
  <PresentationFormat>Custom</PresentationFormat>
  <Paragraphs>137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League Spartan</vt:lpstr>
      <vt:lpstr>Calibri</vt:lpstr>
      <vt:lpstr>Arial</vt:lpstr>
      <vt:lpstr>Agrandir Bold</vt:lpstr>
      <vt:lpstr>Agrandir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Green and Blue Minimalist Simple Presentation</dc:title>
  <dc:creator>Jap Patel</dc:creator>
  <cp:lastModifiedBy>Jap Patel</cp:lastModifiedBy>
  <cp:revision>2</cp:revision>
  <dcterms:created xsi:type="dcterms:W3CDTF">2006-08-16T00:00:00Z</dcterms:created>
  <dcterms:modified xsi:type="dcterms:W3CDTF">2026-04-24T02:40:05Z</dcterms:modified>
  <dc:identifier>DAHHhA1Vt4k</dc:identifier>
</cp:coreProperties>
</file>